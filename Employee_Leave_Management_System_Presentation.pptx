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2926080" cy="384048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5B4FC"/>
                </a:solidFill>
              </a:defRPr>
            </a:pPr>
            <a:r>
              <a:t>ENTERPRISE SOFTWARE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Employee Leave Management System</a:t>
            </a:r>
          </a:p>
          <a:p>
            <a:pPr>
              <a:spcBef>
                <a:spcPts val="1200"/>
              </a:spcBef>
              <a:defRPr sz="1800">
                <a:solidFill>
                  <a:srgbClr val="C7D2FE"/>
                </a:solidFill>
              </a:defRPr>
            </a:pPr>
            <a:r>
              <a:t>LeaveFlow — Next-Generation Automated Corporate Time-Off &amp; Attendance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3291840" cy="1097280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✔ Smart Working Days</a:t>
            </a:r>
          </a:p>
          <a:p>
            <a:pPr>
              <a:spcBef>
                <a:spcPts val="400"/>
              </a:spcBef>
              <a:defRPr sz="1050">
                <a:solidFill>
                  <a:srgbClr val="C7D2FE"/>
                </a:solidFill>
              </a:defRPr>
            </a:pPr>
            <a:r>
              <a:t>Automated exclusion of weekends &amp; public holidays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3291840" cy="1097280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✔ Dual-Role Portals</a:t>
            </a:r>
          </a:p>
          <a:p>
            <a:pPr>
              <a:spcBef>
                <a:spcPts val="400"/>
              </a:spcBef>
              <a:defRPr sz="1050">
                <a:solidFill>
                  <a:srgbClr val="C7D2FE"/>
                </a:solidFill>
              </a:defRPr>
            </a:pPr>
            <a:r>
              <a:t>Employee Self-Service &amp; HR Administrator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291840" cy="1097280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✔ 100% Tested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C7D2FE"/>
                </a:solidFill>
              </a:defRPr>
            </a:pPr>
            <a:r>
              <a:t>17/17 Automated Unit Tests with Zero-Defect QA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Student Presenter: Abhishek Yadav    |    Roll No: 06    |    Academic Year: 2026</a:t>
            </a:r>
          </a:p>
          <a:p>
            <a:pPr>
              <a:spcBef>
                <a:spcPts val="300"/>
              </a:spcBef>
              <a:defRPr sz="1100">
                <a:solidFill>
                  <a:srgbClr val="9CA3AF"/>
                </a:solidFill>
              </a:defRPr>
            </a:pPr>
            <a:r>
              <a:t>Full-Stack Technology Stack: Python 3.12 • Flask 3.0 • SQLite3 • Tailwind CSS • Chart.js • Render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Overview &amp;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The Legacy Challenge: Manual &amp; Paper Leaves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❌  Calculation Errors: Weekends and company public holidays manually included, unfairly deducting employee allowances.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❌  Approval Delays: Physical paper forms and unorganized emails cause multi-day review bottlenecks for managers.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❌  Quota Discrepancies: Lack of automated pending holds leads to double-booking and negative quota balances.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❌  Audit Non-Compliance: No centralized immutable audit logs or CSV compliance exports for HR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The LeaveFlow Solution: Automated Cloud System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Smart Calendar Engine: Dynamic arithmetic excluding Saturdays, Sundays, and gazetted company holidays automatically.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Instant Self-Service: Real-time balance computation, half-day leaves, and immediate cancellation with quota refund.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HR Approvals Queue: One-click manager review modal with custom feedback notes and live attendance tracking.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✔  Compliance &amp; Analytics: Interactive Chart.js visualizations, automated audit trails, and multi-filter CSV streaming.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CORE GOALS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Strategic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64592" cy="2011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End-to-End Lifecycle Automation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Transform employee time-off requests into a paperless digital workflow from submission through approval, quota deduction, and historical archiving.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164592" cy="20116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Intelligent Working-Days Engine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Eliminate human error by automatically filtering company-observed holidays and weekends from leave calculations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64592" cy="20116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Strict Role-Based Access Control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Isolate employee self-service actions from administrative privileges, ensuring role-based privacy and secure session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023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4023360"/>
            <a:ext cx="164592" cy="20116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Real-Time Analytics &amp; Audit Compliance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Empower HR leaders with dynamic Chart.js utilization trends, employee distribution metrics, and audit-ready CSV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ARCHITECTURE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Enterprise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0F172A"/>
                </a:solidFill>
              </a:defRPr>
            </a:pPr>
            <a:r>
              <a:t>•  Python 3.12+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High-performance programming language powering business computation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Flask 3.0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Micro-web framework providing WSGI routing, templating, and REST APIs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Werkzeug Security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PBKDF2 SHA-256 cryptographic password hashing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Gunicorn WSGI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Production-grade UNIX WSGI HTTP server for scalable cloud serving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47472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 &amp; UI/UX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0F172A"/>
                </a:solidFill>
              </a:defRPr>
            </a:pPr>
            <a:r>
              <a:t>•  Tailwind CSS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Modern utility-first CSS framework for clean, responsive UI layouts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Vanilla JS (ES6+)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Client-side interactive calculator, live duration badge, modal controls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Chart.js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Hardware-accelerated HTML5 canvas charts for management analytics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FontAwesome 6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Vector iconography for intuitive visual cues and status tags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737360"/>
            <a:ext cx="347472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 &amp;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14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0F172A"/>
                </a:solidFill>
              </a:defRPr>
            </a:pPr>
            <a:r>
              <a:t>•  SQLite 3 Engine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Zero-configuration ACID transactional database with PRAGMA FK checks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Python unittest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Comprehensive 17-test automated verification test harness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Git &amp; GitHub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Version control, tracking, and continuous deployment synchronization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Render Cloud Platform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Containerized cloud deployment with automated SSL/HTTPS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STRUCTURAL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Multi-Tier Software Architecture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🏛️  Presentation Tier (Client):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Responsive Web Browser, Tailwind CSS, FontAwesome, Chart.js, asynchronous JSON REST calls (`/api/calculate-days`).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🏛️  Application Tier (Flask Backend):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Authentication controller, RBAC gatekeepers, Business Calendar Day Engine, and CSV streaming pipeline.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🏛️  Persistence Tier (SQLite3 DB):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Relational database enforcing referential foreign key constraints and ACID transactional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49377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Relational Database Schema (5 Tables)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📋  users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Employee records, hashed passwords, department, role (admin / employee)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📋  leave_types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Annual, Sick, Casual, Maternity, Paternity, Unpaid categories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📋  leave_balances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Yearly allocated, used, and pending days per user &amp; category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📋  leave_applications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Start/end dates, total_days, half_day flag, remarks, review state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📋  audit_logs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</a:defRPr>
            </a:pPr>
            <a:r>
              <a:t>Immutable audit trail of all logins, submissions, and approvals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FEATURE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Employee Self-Service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5740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Smart Duration Calculator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Live calculation badge instantly computes working business days as the user selects dates. Saturdays, Sundays, and official public holidays are automatically subtracted.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65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Single-Day Half-Day Support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Toggling 'Half-Day' automatically synchronizes end date to start date, recording exactly 0.5 days without manual overrides.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3434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51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Real-Time Quota Snapshot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Color-coded progress gauges display total allocated, used, under review, and remaining balance for each leave 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023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434340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251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Instant Self-Service Cancellation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Employees can cancel pending leave requests with one click, automatically releasing the pending hold back to available 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MANAGEMENT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HR Administration &amp; Analytics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5740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Approvals Queue Workflow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Centralized queue displaying pending applications with employee details, date spans, and remaining quotas. Fast-track modal sign-off with custom manager feedback remarks.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65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Staff &amp; Quota Calibration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HR administrators can register new employees with automatic baseline quota initialization, and modify annual allowances dynamically on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3434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51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Executive Chart.js Analytics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Interactive visual dashboard featuring donut distribution charts by leave category and monthly utilization bar trends across departments.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02336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434340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2519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Compliance Search &amp; CSV Export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Multi-dimensional search filters (by department, status, and category) with one-click export to audit-ready CSV spreadsheets for legal/HR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TESTING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Verification &amp; Quality Assurance (100% Passed)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✔  Automated Test Suite: 17 of 17 Tests Passed (100% Pass Rate in 4.44s)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Comprehensive automated unit and integration tests executing against isolated temporary SQLite databases on every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747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Calculation &amp; Engine Tests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Regular Business Days: Mon-Wed correctly computed as 3 days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Weekend Exclusion: Fri-Mon computes 2 days (Sat/Sun skipped)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Holiday Exclusion: Public holidays excluded from count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Half-Day Validation: Exact 0.5-day duration verified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Negative Date Orders: End date &lt; start date rejected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017520"/>
            <a:ext cx="34747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1546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Workflow &amp; State Tests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Pending Hold Creation: Applying locks quota to prevent double-booking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Manager Approval: Transfers pending hold to used days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Manager Rejection: Releases pending hold with no penalty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Employee Cancellation: Instant restoration of held quota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Insufficient Balance: Rejects request when quota exceeded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017520"/>
            <a:ext cx="34747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1546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Security &amp; Edge-Case Tests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Role-Based Protection: Prevents unauthorized admin access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Overlapping Collisions: Rejects conflicting concurrent leaves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Email Uniqueness: Prevents duplicate employee registration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Negative Quota Guards: Validates allocation thresholds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Audit Trail Verification: Verifies log entry on all critical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●  SUMMARY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 &amp; Project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Key Project Achievements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⭐  Enterprise-Ready Architecture: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Delivered a fully responsive, zero-defect employee leave platform with modern aesthetics.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⭐  100% Automated Calculations: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Eliminated manual computation errors via dynamic holiday-aware date algorithms.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⭐  Robust Security &amp; Compliance: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PBKDF2 SHA-256 password security, role isolation, and comprehensive audit logs.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⭐  Cloud Production Deployment: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Configured with Gunicorn WSGI and Render cloud blueprints for instant zero-downtime serving.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Future Enhancement Scope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🚀  Instant Slack &amp; Teams Webhooks: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Real-time notifications sent to company messaging channels on application submission and approvals.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🚀  Two-Way Google &amp; Outlook Calendar Sync: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Approved leaves automatically reflected on team shared Google Calendars.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🚀  Biometric &amp; Punch Clock Attendance: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Integration with hardware fingerprint/facial attendance scanners.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🚀  AI Predictive Absence Forecasting: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Machine learning models forecasting seasonal departmental staffing deficits.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A5B4FC"/>
                </a:solidFill>
              </a:defRPr>
            </a:pPr>
            <a:r>
              <a:t>Employee Leave Management System (LeaveFlow)</a:t>
            </a:r>
          </a:p>
          <a:p>
            <a:pPr algn="ctr">
              <a:spcBef>
                <a:spcPts val="1600"/>
              </a:spcBef>
              <a:defRPr sz="1800">
                <a:solidFill>
                  <a:srgbClr val="D1D5DB"/>
                </a:solidFill>
              </a:defRPr>
            </a:pPr>
            <a:r>
              <a:t>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114800"/>
            <a:ext cx="7619695" cy="1645920"/>
          </a:xfrm>
          <a:prstGeom prst="roundRect">
            <a:avLst/>
          </a:prstGeom>
          <a:solidFill>
            <a:srgbClr val="312E81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7D2FE"/>
                </a:solidFill>
              </a:defRPr>
            </a:pPr>
            <a:r>
              <a:t>Project Metadata &amp; Repository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Presenter: Abhishek Yadav  |  Roll No: 06  |  Email: abhishek176170@gmail.com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34D399"/>
                </a:solidFill>
              </a:defRPr>
            </a:pPr>
            <a:r>
              <a:t>GitHub Repository: https://github.com/abhishek176170-9867/Employee-management-system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