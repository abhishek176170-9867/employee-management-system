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299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71600"/>
            <a:ext cx="10332720" cy="2011680"/>
          </a:xfrm>
          <a:prstGeom prst="rect">
            <a:avLst/>
          </a:prstGeom>
          <a:noFill/>
        </p:spPr>
        <p:txBody>
          <a:bodyPr wrap="square">
            <a:spAutoFit/>
          </a:bodyPr>
          <a:lstStyle/>
          <a:p>
            <a:pPr>
              <a:defRPr sz="1200" b="1">
                <a:solidFill>
                  <a:srgbClr val="BEE3F8"/>
                </a:solidFill>
                <a:latin typeface="Arial"/>
              </a:defRPr>
            </a:pPr>
            <a:r>
              <a:t>FINAL YEAR PROJECT PRESENTATION</a:t>
            </a:r>
          </a:p>
          <a:p>
            <a:pPr>
              <a:spcBef>
                <a:spcPts val="800"/>
              </a:spcBef>
              <a:defRPr sz="3600" b="1">
                <a:solidFill>
                  <a:srgbClr val="FFFFFF"/>
                </a:solidFill>
                <a:latin typeface="Arial"/>
              </a:defRPr>
            </a:pPr>
            <a:r>
              <a:t>Employee Leave Management System</a:t>
            </a:r>
          </a:p>
          <a:p>
            <a:pPr>
              <a:spcBef>
                <a:spcPts val="800"/>
              </a:spcBef>
              <a:defRPr sz="1600">
                <a:solidFill>
                  <a:srgbClr val="E2E8F0"/>
                </a:solidFill>
                <a:latin typeface="Arial"/>
              </a:defRPr>
            </a:pPr>
            <a:r>
              <a:t>A Web-Based Portal for Automating Corporate Leave Applications and Approval Workflows</a:t>
            </a:r>
          </a:p>
        </p:txBody>
      </p:sp>
      <p:sp>
        <p:nvSpPr>
          <p:cNvPr id="5" name="Rectangle 4"/>
          <p:cNvSpPr/>
          <p:nvPr/>
        </p:nvSpPr>
        <p:spPr>
          <a:xfrm>
            <a:off x="914400" y="3566160"/>
            <a:ext cx="10332720" cy="18288"/>
          </a:xfrm>
          <a:prstGeom prst="rect">
            <a:avLst/>
          </a:prstGeom>
          <a:solidFill>
            <a:srgbClr val="4A55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840480"/>
            <a:ext cx="10332720" cy="2103120"/>
          </a:xfrm>
          <a:prstGeom prst="rect">
            <a:avLst/>
          </a:prstGeom>
          <a:noFill/>
        </p:spPr>
        <p:txBody>
          <a:bodyPr wrap="square">
            <a:spAutoFit/>
          </a:bodyPr>
          <a:lstStyle/>
          <a:p>
            <a:pPr>
              <a:defRPr sz="1300" b="1">
                <a:solidFill>
                  <a:srgbClr val="BEE3F8"/>
                </a:solidFill>
                <a:latin typeface="Arial"/>
              </a:defRPr>
            </a:pPr>
            <a:r>
              <a:t>Submitted By:</a:t>
            </a:r>
          </a:p>
          <a:p>
            <a:pPr>
              <a:spcBef>
                <a:spcPts val="400"/>
              </a:spcBef>
              <a:defRPr sz="1600" b="1">
                <a:solidFill>
                  <a:srgbClr val="FFFFFF"/>
                </a:solidFill>
                <a:latin typeface="Arial"/>
              </a:defRPr>
            </a:pPr>
            <a:r>
              <a:t>Abhishek Yadav</a:t>
            </a:r>
          </a:p>
          <a:p>
            <a:pPr>
              <a:spcBef>
                <a:spcPts val="300"/>
              </a:spcBef>
              <a:defRPr sz="1300">
                <a:solidFill>
                  <a:srgbClr val="E2E8F0"/>
                </a:solidFill>
                <a:latin typeface="Arial"/>
              </a:defRPr>
            </a:pPr>
            <a:r>
              <a:t>Roll Number: 06    |    Degree Program: Bachelor of Technology (B.Tech)</a:t>
            </a:r>
          </a:p>
          <a:p>
            <a:pPr>
              <a:spcBef>
                <a:spcPts val="300"/>
              </a:spcBef>
              <a:defRPr sz="1300">
                <a:solidFill>
                  <a:srgbClr val="CBD5E1"/>
                </a:solidFill>
                <a:latin typeface="Arial"/>
              </a:defRPr>
            </a:pPr>
            <a:r>
              <a:t>Department of Computer Science &amp; Engineering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PROJECT BACKGROUND</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Introduction &amp; Problem Statement</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2 of 10</a:t>
            </a:r>
          </a:p>
        </p:txBody>
      </p:sp>
      <p:sp>
        <p:nvSpPr>
          <p:cNvPr id="8" name="Rectangle 7"/>
          <p:cNvSpPr/>
          <p:nvPr/>
        </p:nvSpPr>
        <p:spPr>
          <a:xfrm>
            <a:off x="731520" y="1554480"/>
            <a:ext cx="512064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737360"/>
            <a:ext cx="4754880" cy="4023360"/>
          </a:xfrm>
          <a:prstGeom prst="rect">
            <a:avLst/>
          </a:prstGeom>
          <a:noFill/>
        </p:spPr>
        <p:txBody>
          <a:bodyPr wrap="square">
            <a:spAutoFit/>
          </a:bodyPr>
          <a:lstStyle/>
          <a:p>
            <a:pPr>
              <a:defRPr sz="1500" b="1">
                <a:solidFill>
                  <a:srgbClr val="1A365D"/>
                </a:solidFill>
                <a:latin typeface="Arial"/>
              </a:defRPr>
            </a:pPr>
            <a:r>
              <a:t>Limitations of Manual Leave Systems</a:t>
            </a:r>
          </a:p>
          <a:p>
            <a:pPr>
              <a:spcBef>
                <a:spcPts val="1000"/>
              </a:spcBef>
              <a:defRPr sz="1200">
                <a:solidFill>
                  <a:srgbClr val="2D3748"/>
                </a:solidFill>
                <a:latin typeface="Arial"/>
              </a:defRPr>
            </a:pPr>
            <a:r>
              <a:t>•  Paper-Based Approvals: Leave applications submitted on physical forms or unorganized emails result in delayed responses and lost records.</a:t>
            </a:r>
          </a:p>
          <a:p>
            <a:pPr>
              <a:spcBef>
                <a:spcPts val="1000"/>
              </a:spcBef>
              <a:defRPr sz="1200">
                <a:solidFill>
                  <a:srgbClr val="2D3748"/>
                </a:solidFill>
                <a:latin typeface="Arial"/>
              </a:defRPr>
            </a:pPr>
            <a:r>
              <a:t>•  Inaccurate Day Calculations: Weekends and official holidays are frequently miscounted, leading to incorrect deductions from employee allowances.</a:t>
            </a:r>
          </a:p>
          <a:p>
            <a:pPr>
              <a:spcBef>
                <a:spcPts val="1000"/>
              </a:spcBef>
              <a:defRPr sz="1200">
                <a:solidFill>
                  <a:srgbClr val="2D3748"/>
                </a:solidFill>
                <a:latin typeface="Arial"/>
              </a:defRPr>
            </a:pPr>
            <a:r>
              <a:t>•  Quota Discrepancies: Without centralized balance tracking, employees may overdraw their quotas before approval.</a:t>
            </a:r>
          </a:p>
          <a:p>
            <a:pPr>
              <a:spcBef>
                <a:spcPts val="1000"/>
              </a:spcBef>
              <a:defRPr sz="1200">
                <a:solidFill>
                  <a:srgbClr val="2D3748"/>
                </a:solidFill>
                <a:latin typeface="Arial"/>
              </a:defRPr>
            </a:pPr>
            <a:r>
              <a:t>•  Lack of Audit Trail: Difficult for HR departments to maintain transparent records and generate compliance reports for management audits.</a:t>
            </a:r>
          </a:p>
        </p:txBody>
      </p:sp>
      <p:sp>
        <p:nvSpPr>
          <p:cNvPr id="10" name="Rectangle 9"/>
          <p:cNvSpPr/>
          <p:nvPr/>
        </p:nvSpPr>
        <p:spPr>
          <a:xfrm>
            <a:off x="6217920" y="1554480"/>
            <a:ext cx="5212080" cy="4389120"/>
          </a:xfrm>
          <a:prstGeom prst="rect">
            <a:avLst/>
          </a:prstGeom>
          <a:solidFill>
            <a:srgbClr val="F7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737360"/>
            <a:ext cx="4846320" cy="4023360"/>
          </a:xfrm>
          <a:prstGeom prst="rect">
            <a:avLst/>
          </a:prstGeom>
          <a:noFill/>
        </p:spPr>
        <p:txBody>
          <a:bodyPr wrap="square">
            <a:spAutoFit/>
          </a:bodyPr>
          <a:lstStyle/>
          <a:p>
            <a:pPr>
              <a:defRPr sz="1500" b="1">
                <a:solidFill>
                  <a:srgbClr val="2B6CB0"/>
                </a:solidFill>
                <a:latin typeface="Arial"/>
              </a:defRPr>
            </a:pPr>
            <a:r>
              <a:t>The Proposed Web Solution</a:t>
            </a:r>
          </a:p>
          <a:p>
            <a:pPr>
              <a:spcBef>
                <a:spcPts val="1000"/>
              </a:spcBef>
              <a:defRPr sz="1200">
                <a:solidFill>
                  <a:srgbClr val="2D3748"/>
                </a:solidFill>
                <a:latin typeface="Arial"/>
              </a:defRPr>
            </a:pPr>
            <a:r>
              <a:t>•  Centralized Web Portal: A single responsive portal accessible by employees and managers from any modern browser.</a:t>
            </a:r>
          </a:p>
          <a:p>
            <a:pPr>
              <a:spcBef>
                <a:spcPts val="1000"/>
              </a:spcBef>
              <a:defRPr sz="1200">
                <a:solidFill>
                  <a:srgbClr val="2D3748"/>
                </a:solidFill>
                <a:latin typeface="Arial"/>
              </a:defRPr>
            </a:pPr>
            <a:r>
              <a:t>•  Automatic Calendar Engine: Working days are calculated automatically by excluding Saturdays, Sundays, and gazetted holidays in real-time.</a:t>
            </a:r>
          </a:p>
          <a:p>
            <a:pPr>
              <a:spcBef>
                <a:spcPts val="1000"/>
              </a:spcBef>
              <a:defRPr sz="1200">
                <a:solidFill>
                  <a:srgbClr val="2D3748"/>
                </a:solidFill>
                <a:latin typeface="Arial"/>
              </a:defRPr>
            </a:pPr>
            <a:r>
              <a:t>•  Role-Based Dashboards: Dedicated interfaces for employees to track balances and for HR administrators to manage approvals.</a:t>
            </a:r>
          </a:p>
          <a:p>
            <a:pPr>
              <a:spcBef>
                <a:spcPts val="1000"/>
              </a:spcBef>
              <a:defRPr sz="1200">
                <a:solidFill>
                  <a:srgbClr val="2D3748"/>
                </a:solidFill>
                <a:latin typeface="Arial"/>
              </a:defRPr>
            </a:pPr>
            <a:r>
              <a:t>•  Complete History &amp; Export: Instant self-service cancellation, audit logging, and one-click export of leave records to CSV format.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PROJECT GOALS</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Objectives of the Project</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3 of 10</a:t>
            </a:r>
          </a:p>
        </p:txBody>
      </p:sp>
      <p:sp>
        <p:nvSpPr>
          <p:cNvPr id="8" name="Rectangle 7"/>
          <p:cNvSpPr/>
          <p:nvPr/>
        </p:nvSpPr>
        <p:spPr>
          <a:xfrm>
            <a:off x="731520" y="1554480"/>
            <a:ext cx="10728655" cy="78638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554480"/>
            <a:ext cx="109728" cy="786384"/>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627632"/>
            <a:ext cx="10241280" cy="640080"/>
          </a:xfrm>
          <a:prstGeom prst="rect">
            <a:avLst/>
          </a:prstGeom>
          <a:noFill/>
        </p:spPr>
        <p:txBody>
          <a:bodyPr wrap="square">
            <a:spAutoFit/>
          </a:bodyPr>
          <a:lstStyle/>
          <a:p>
            <a:pPr>
              <a:defRPr sz="1300" b="1">
                <a:solidFill>
                  <a:srgbClr val="1A365D"/>
                </a:solidFill>
                <a:latin typeface="Arial"/>
              </a:defRPr>
            </a:pPr>
            <a:r>
              <a:t>1. End-to-End Workflow Automation</a:t>
            </a:r>
          </a:p>
          <a:p>
            <a:pPr>
              <a:spcBef>
                <a:spcPts val="200"/>
              </a:spcBef>
              <a:defRPr sz="1100">
                <a:solidFill>
                  <a:srgbClr val="2D3748"/>
                </a:solidFill>
                <a:latin typeface="Arial"/>
              </a:defRPr>
            </a:pPr>
            <a:r>
              <a:t>Eliminate paper forms by providing a digital lifecycle: submission, balance verification, manager review, quota deduction, and historical archiving.</a:t>
            </a:r>
          </a:p>
        </p:txBody>
      </p:sp>
      <p:sp>
        <p:nvSpPr>
          <p:cNvPr id="11" name="Rectangle 10"/>
          <p:cNvSpPr/>
          <p:nvPr/>
        </p:nvSpPr>
        <p:spPr>
          <a:xfrm>
            <a:off x="731520" y="2450591"/>
            <a:ext cx="10728655" cy="78638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2450591"/>
            <a:ext cx="109728" cy="786384"/>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2523743"/>
            <a:ext cx="10241280" cy="640080"/>
          </a:xfrm>
          <a:prstGeom prst="rect">
            <a:avLst/>
          </a:prstGeom>
          <a:noFill/>
        </p:spPr>
        <p:txBody>
          <a:bodyPr wrap="square">
            <a:spAutoFit/>
          </a:bodyPr>
          <a:lstStyle/>
          <a:p>
            <a:pPr>
              <a:defRPr sz="1300" b="1">
                <a:solidFill>
                  <a:srgbClr val="1A365D"/>
                </a:solidFill>
                <a:latin typeface="Arial"/>
              </a:defRPr>
            </a:pPr>
            <a:r>
              <a:t>2. Accurate Working-Days Calculation</a:t>
            </a:r>
          </a:p>
          <a:p>
            <a:pPr>
              <a:spcBef>
                <a:spcPts val="200"/>
              </a:spcBef>
              <a:defRPr sz="1100">
                <a:solidFill>
                  <a:srgbClr val="2D3748"/>
                </a:solidFill>
                <a:latin typeface="Arial"/>
              </a:defRPr>
            </a:pPr>
            <a:r>
              <a:t>Develop an intelligent calendar calculation algorithm that accurately skips weekends (Saturdays and Sundays) and gazetted corporate holidays.</a:t>
            </a:r>
          </a:p>
        </p:txBody>
      </p:sp>
      <p:sp>
        <p:nvSpPr>
          <p:cNvPr id="14" name="Rectangle 13"/>
          <p:cNvSpPr/>
          <p:nvPr/>
        </p:nvSpPr>
        <p:spPr>
          <a:xfrm>
            <a:off x="731520" y="3346704"/>
            <a:ext cx="10728655" cy="78638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346704"/>
            <a:ext cx="109728" cy="786384"/>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05840" y="3419856"/>
            <a:ext cx="10241280" cy="640080"/>
          </a:xfrm>
          <a:prstGeom prst="rect">
            <a:avLst/>
          </a:prstGeom>
          <a:noFill/>
        </p:spPr>
        <p:txBody>
          <a:bodyPr wrap="square">
            <a:spAutoFit/>
          </a:bodyPr>
          <a:lstStyle/>
          <a:p>
            <a:pPr>
              <a:defRPr sz="1300" b="1">
                <a:solidFill>
                  <a:srgbClr val="1A365D"/>
                </a:solidFill>
                <a:latin typeface="Arial"/>
              </a:defRPr>
            </a:pPr>
            <a:r>
              <a:t>3. Strict Role-Based Access Control</a:t>
            </a:r>
          </a:p>
          <a:p>
            <a:pPr>
              <a:spcBef>
                <a:spcPts val="200"/>
              </a:spcBef>
              <a:defRPr sz="1100">
                <a:solidFill>
                  <a:srgbClr val="2D3748"/>
                </a:solidFill>
                <a:latin typeface="Arial"/>
              </a:defRPr>
            </a:pPr>
            <a:r>
              <a:t>Implement secure authentication separating standard employee actions (apply, view, cancel) from HR administrator rights (approve, reject, add staff, calibrate quotas).</a:t>
            </a:r>
          </a:p>
        </p:txBody>
      </p:sp>
      <p:sp>
        <p:nvSpPr>
          <p:cNvPr id="17" name="Rectangle 16"/>
          <p:cNvSpPr/>
          <p:nvPr/>
        </p:nvSpPr>
        <p:spPr>
          <a:xfrm>
            <a:off x="731520" y="4242816"/>
            <a:ext cx="10728655" cy="78638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242816"/>
            <a:ext cx="109728" cy="786384"/>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05840" y="4315968"/>
            <a:ext cx="10241280" cy="640080"/>
          </a:xfrm>
          <a:prstGeom prst="rect">
            <a:avLst/>
          </a:prstGeom>
          <a:noFill/>
        </p:spPr>
        <p:txBody>
          <a:bodyPr wrap="square">
            <a:spAutoFit/>
          </a:bodyPr>
          <a:lstStyle/>
          <a:p>
            <a:pPr>
              <a:defRPr sz="1300" b="1">
                <a:solidFill>
                  <a:srgbClr val="1A365D"/>
                </a:solidFill>
                <a:latin typeface="Arial"/>
              </a:defRPr>
            </a:pPr>
            <a:r>
              <a:t>4. Real-Time Quota &amp; Attendance Tracking</a:t>
            </a:r>
          </a:p>
          <a:p>
            <a:pPr>
              <a:spcBef>
                <a:spcPts val="200"/>
              </a:spcBef>
              <a:defRPr sz="1100">
                <a:solidFill>
                  <a:srgbClr val="2D3748"/>
                </a:solidFill>
                <a:latin typeface="Arial"/>
              </a:defRPr>
            </a:pPr>
            <a:r>
              <a:t>Display live leave balance cards with dynamic progress meters, preventing duplicate applications or requests exceeding available balances.</a:t>
            </a:r>
          </a:p>
        </p:txBody>
      </p:sp>
      <p:sp>
        <p:nvSpPr>
          <p:cNvPr id="20" name="Rectangle 19"/>
          <p:cNvSpPr/>
          <p:nvPr/>
        </p:nvSpPr>
        <p:spPr>
          <a:xfrm>
            <a:off x="731520" y="5138928"/>
            <a:ext cx="10728655" cy="78638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31520" y="5138928"/>
            <a:ext cx="109728" cy="786384"/>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05840" y="5212080"/>
            <a:ext cx="10241280" cy="640080"/>
          </a:xfrm>
          <a:prstGeom prst="rect">
            <a:avLst/>
          </a:prstGeom>
          <a:noFill/>
        </p:spPr>
        <p:txBody>
          <a:bodyPr wrap="square">
            <a:spAutoFit/>
          </a:bodyPr>
          <a:lstStyle/>
          <a:p>
            <a:pPr>
              <a:defRPr sz="1300" b="1">
                <a:solidFill>
                  <a:srgbClr val="1A365D"/>
                </a:solidFill>
                <a:latin typeface="Arial"/>
              </a:defRPr>
            </a:pPr>
            <a:r>
              <a:t>5. Compliance Reporting and Analytics</a:t>
            </a:r>
          </a:p>
          <a:p>
            <a:pPr>
              <a:spcBef>
                <a:spcPts val="200"/>
              </a:spcBef>
              <a:defRPr sz="1100">
                <a:solidFill>
                  <a:srgbClr val="2D3748"/>
                </a:solidFill>
                <a:latin typeface="Arial"/>
              </a:defRPr>
            </a:pPr>
            <a:r>
              <a:t>Provide management analytics on leave utilization trends and enable one-click export of full audit records to CSV files for HR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SYSTEM DESIGN</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System Architecture &amp; Data Flow</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4 of 10</a:t>
            </a:r>
          </a:p>
        </p:txBody>
      </p:sp>
      <p:sp>
        <p:nvSpPr>
          <p:cNvPr id="8" name="Rectangle 7"/>
          <p:cNvSpPr/>
          <p:nvPr/>
        </p:nvSpPr>
        <p:spPr>
          <a:xfrm>
            <a:off x="731520" y="1554480"/>
            <a:ext cx="347472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554480"/>
            <a:ext cx="3474720"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00200"/>
            <a:ext cx="3474720" cy="457200"/>
          </a:xfrm>
          <a:prstGeom prst="rect">
            <a:avLst/>
          </a:prstGeom>
          <a:noFill/>
        </p:spPr>
        <p:txBody>
          <a:bodyPr wrap="none">
            <a:spAutoFit/>
          </a:bodyPr>
          <a:lstStyle/>
          <a:p>
            <a:pPr algn="ctr">
              <a:defRPr sz="1300" b="1">
                <a:solidFill>
                  <a:srgbClr val="FFFFFF"/>
                </a:solidFill>
                <a:latin typeface="Arial"/>
              </a:defRPr>
            </a:pPr>
            <a:r>
              <a:t>Presentation Layer (Client)</a:t>
            </a:r>
          </a:p>
        </p:txBody>
      </p:sp>
      <p:sp>
        <p:nvSpPr>
          <p:cNvPr id="11" name="TextBox 10"/>
          <p:cNvSpPr txBox="1"/>
          <p:nvPr/>
        </p:nvSpPr>
        <p:spPr>
          <a:xfrm>
            <a:off x="914400" y="2240280"/>
            <a:ext cx="3108960" cy="3566160"/>
          </a:xfrm>
          <a:prstGeom prst="rect">
            <a:avLst/>
          </a:prstGeom>
          <a:noFill/>
        </p:spPr>
        <p:txBody>
          <a:bodyPr wrap="square">
            <a:spAutoFit/>
          </a:bodyPr>
          <a:lstStyle/>
          <a:p>
            <a:pPr>
              <a:spcBef>
                <a:spcPts val="0"/>
              </a:spcBef>
              <a:defRPr sz="1100">
                <a:solidFill>
                  <a:srgbClr val="2D3748"/>
                </a:solidFill>
                <a:latin typeface="Arial"/>
              </a:defRPr>
            </a:pPr>
            <a:r>
              <a:t>•  HTML5 &amp; Tailwind CSS for modern responsive interface</a:t>
            </a:r>
          </a:p>
          <a:p>
            <a:pPr>
              <a:spcBef>
                <a:spcPts val="800"/>
              </a:spcBef>
              <a:defRPr sz="1100">
                <a:solidFill>
                  <a:srgbClr val="2D3748"/>
                </a:solidFill>
                <a:latin typeface="Arial"/>
              </a:defRPr>
            </a:pPr>
            <a:r>
              <a:t>•  Jinja2 Template Engine rendering dynamic views</a:t>
            </a:r>
          </a:p>
          <a:p>
            <a:pPr>
              <a:spcBef>
                <a:spcPts val="800"/>
              </a:spcBef>
              <a:defRPr sz="1100">
                <a:solidFill>
                  <a:srgbClr val="2D3748"/>
                </a:solidFill>
                <a:latin typeface="Arial"/>
              </a:defRPr>
            </a:pPr>
            <a:r>
              <a:t>•  Client-side JavaScript for live duration calculation</a:t>
            </a:r>
          </a:p>
          <a:p>
            <a:pPr>
              <a:spcBef>
                <a:spcPts val="800"/>
              </a:spcBef>
              <a:defRPr sz="1100">
                <a:solidFill>
                  <a:srgbClr val="2D3748"/>
                </a:solidFill>
                <a:latin typeface="Arial"/>
              </a:defRPr>
            </a:pPr>
            <a:r>
              <a:t>•  Chart.js for interactive analytics graphs</a:t>
            </a:r>
          </a:p>
          <a:p>
            <a:pPr>
              <a:spcBef>
                <a:spcPts val="800"/>
              </a:spcBef>
              <a:defRPr sz="1100">
                <a:solidFill>
                  <a:srgbClr val="2D3748"/>
                </a:solidFill>
                <a:latin typeface="Arial"/>
              </a:defRPr>
            </a:pPr>
            <a:r>
              <a:t>•  Compatible with desktop and mobile web browsers</a:t>
            </a:r>
          </a:p>
        </p:txBody>
      </p:sp>
      <p:sp>
        <p:nvSpPr>
          <p:cNvPr id="12" name="Rectangle 11"/>
          <p:cNvSpPr/>
          <p:nvPr/>
        </p:nvSpPr>
        <p:spPr>
          <a:xfrm>
            <a:off x="4389120" y="1554480"/>
            <a:ext cx="347472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554480"/>
            <a:ext cx="3474720"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1600200"/>
            <a:ext cx="3474720" cy="457200"/>
          </a:xfrm>
          <a:prstGeom prst="rect">
            <a:avLst/>
          </a:prstGeom>
          <a:noFill/>
        </p:spPr>
        <p:txBody>
          <a:bodyPr wrap="none">
            <a:spAutoFit/>
          </a:bodyPr>
          <a:lstStyle/>
          <a:p>
            <a:pPr algn="ctr">
              <a:defRPr sz="1300" b="1">
                <a:solidFill>
                  <a:srgbClr val="FFFFFF"/>
                </a:solidFill>
                <a:latin typeface="Arial"/>
              </a:defRPr>
            </a:pPr>
            <a:r>
              <a:t>Application Layer (Flask Web Server)</a:t>
            </a:r>
          </a:p>
        </p:txBody>
      </p:sp>
      <p:sp>
        <p:nvSpPr>
          <p:cNvPr id="15" name="TextBox 14"/>
          <p:cNvSpPr txBox="1"/>
          <p:nvPr/>
        </p:nvSpPr>
        <p:spPr>
          <a:xfrm>
            <a:off x="4572000" y="2240280"/>
            <a:ext cx="3108960" cy="3566160"/>
          </a:xfrm>
          <a:prstGeom prst="rect">
            <a:avLst/>
          </a:prstGeom>
          <a:noFill/>
        </p:spPr>
        <p:txBody>
          <a:bodyPr wrap="square">
            <a:spAutoFit/>
          </a:bodyPr>
          <a:lstStyle/>
          <a:p>
            <a:pPr>
              <a:spcBef>
                <a:spcPts val="0"/>
              </a:spcBef>
              <a:defRPr sz="1100">
                <a:solidFill>
                  <a:srgbClr val="2D3748"/>
                </a:solidFill>
                <a:latin typeface="Arial"/>
              </a:defRPr>
            </a:pPr>
            <a:r>
              <a:t>•  Python 3.12 running Flask micro-framework</a:t>
            </a:r>
          </a:p>
          <a:p>
            <a:pPr>
              <a:spcBef>
                <a:spcPts val="800"/>
              </a:spcBef>
              <a:defRPr sz="1100">
                <a:solidFill>
                  <a:srgbClr val="2D3748"/>
                </a:solidFill>
                <a:latin typeface="Arial"/>
              </a:defRPr>
            </a:pPr>
            <a:r>
              <a:t>•  Authentication &amp; Session Management module</a:t>
            </a:r>
          </a:p>
          <a:p>
            <a:pPr>
              <a:spcBef>
                <a:spcPts val="800"/>
              </a:spcBef>
              <a:defRPr sz="1100">
                <a:solidFill>
                  <a:srgbClr val="2D3748"/>
                </a:solidFill>
                <a:latin typeface="Arial"/>
              </a:defRPr>
            </a:pPr>
            <a:r>
              <a:t>•  Working days business logic engine (excluding holidays)</a:t>
            </a:r>
          </a:p>
          <a:p>
            <a:pPr>
              <a:spcBef>
                <a:spcPts val="800"/>
              </a:spcBef>
              <a:defRPr sz="1100">
                <a:solidFill>
                  <a:srgbClr val="2D3748"/>
                </a:solidFill>
                <a:latin typeface="Arial"/>
              </a:defRPr>
            </a:pPr>
            <a:r>
              <a:t>•  Leave application validation &amp; quota checks</a:t>
            </a:r>
          </a:p>
          <a:p>
            <a:pPr>
              <a:spcBef>
                <a:spcPts val="800"/>
              </a:spcBef>
              <a:defRPr sz="1100">
                <a:solidFill>
                  <a:srgbClr val="2D3748"/>
                </a:solidFill>
                <a:latin typeface="Arial"/>
              </a:defRPr>
            </a:pPr>
            <a:r>
              <a:t>•  REST API endpoints (/api/calculate-days, /api/chart-data)</a:t>
            </a:r>
          </a:p>
        </p:txBody>
      </p:sp>
      <p:sp>
        <p:nvSpPr>
          <p:cNvPr id="16" name="Rectangle 15"/>
          <p:cNvSpPr/>
          <p:nvPr/>
        </p:nvSpPr>
        <p:spPr>
          <a:xfrm>
            <a:off x="8046720" y="1554480"/>
            <a:ext cx="347472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554480"/>
            <a:ext cx="3474720" cy="548640"/>
          </a:xfrm>
          <a:prstGeom prst="rect">
            <a:avLst/>
          </a:prstGeom>
          <a:solidFill>
            <a:srgbClr val="1A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600200"/>
            <a:ext cx="3474720" cy="457200"/>
          </a:xfrm>
          <a:prstGeom prst="rect">
            <a:avLst/>
          </a:prstGeom>
          <a:noFill/>
        </p:spPr>
        <p:txBody>
          <a:bodyPr wrap="none">
            <a:spAutoFit/>
          </a:bodyPr>
          <a:lstStyle/>
          <a:p>
            <a:pPr algn="ctr">
              <a:defRPr sz="1300" b="1">
                <a:solidFill>
                  <a:srgbClr val="FFFFFF"/>
                </a:solidFill>
                <a:latin typeface="Arial"/>
              </a:defRPr>
            </a:pPr>
            <a:r>
              <a:t>Database Layer (Persistence)</a:t>
            </a:r>
          </a:p>
        </p:txBody>
      </p:sp>
      <p:sp>
        <p:nvSpPr>
          <p:cNvPr id="19" name="TextBox 18"/>
          <p:cNvSpPr txBox="1"/>
          <p:nvPr/>
        </p:nvSpPr>
        <p:spPr>
          <a:xfrm>
            <a:off x="8229600" y="2240280"/>
            <a:ext cx="3108960" cy="3566160"/>
          </a:xfrm>
          <a:prstGeom prst="rect">
            <a:avLst/>
          </a:prstGeom>
          <a:noFill/>
        </p:spPr>
        <p:txBody>
          <a:bodyPr wrap="square">
            <a:spAutoFit/>
          </a:bodyPr>
          <a:lstStyle/>
          <a:p>
            <a:pPr>
              <a:spcBef>
                <a:spcPts val="0"/>
              </a:spcBef>
              <a:defRPr sz="1100">
                <a:solidFill>
                  <a:srgbClr val="2D3748"/>
                </a:solidFill>
                <a:latin typeface="Arial"/>
              </a:defRPr>
            </a:pPr>
            <a:r>
              <a:t>•  SQLite3 relational database engine</a:t>
            </a:r>
          </a:p>
          <a:p>
            <a:pPr>
              <a:spcBef>
                <a:spcPts val="800"/>
              </a:spcBef>
              <a:defRPr sz="1100">
                <a:solidFill>
                  <a:srgbClr val="2D3748"/>
                </a:solidFill>
                <a:latin typeface="Arial"/>
              </a:defRPr>
            </a:pPr>
            <a:r>
              <a:t>•  Referential integrity enforced with Foreign Key PRAGMA</a:t>
            </a:r>
          </a:p>
          <a:p>
            <a:pPr>
              <a:spcBef>
                <a:spcPts val="800"/>
              </a:spcBef>
              <a:defRPr sz="1100">
                <a:solidFill>
                  <a:srgbClr val="2D3748"/>
                </a:solidFill>
                <a:latin typeface="Arial"/>
              </a:defRPr>
            </a:pPr>
            <a:r>
              <a:t>•  Transactional safety (commit / rollback)</a:t>
            </a:r>
          </a:p>
          <a:p>
            <a:pPr>
              <a:spcBef>
                <a:spcPts val="800"/>
              </a:spcBef>
              <a:defRPr sz="1100">
                <a:solidFill>
                  <a:srgbClr val="2D3748"/>
                </a:solidFill>
                <a:latin typeface="Arial"/>
              </a:defRPr>
            </a:pPr>
            <a:r>
              <a:t>•  Encrypted password storage using PBKDF2 SHA-256</a:t>
            </a:r>
          </a:p>
          <a:p>
            <a:pPr>
              <a:spcBef>
                <a:spcPts val="800"/>
              </a:spcBef>
              <a:defRPr sz="1100">
                <a:solidFill>
                  <a:srgbClr val="2D3748"/>
                </a:solidFill>
                <a:latin typeface="Arial"/>
              </a:defRPr>
            </a:pPr>
            <a:r>
              <a:t>•  Automated database seeding on initial launch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TECHNICAL SPECIFICATIONS</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Technology Stack &amp; Tools Used</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5 of 10</a:t>
            </a:r>
          </a:p>
        </p:txBody>
      </p:sp>
      <p:sp>
        <p:nvSpPr>
          <p:cNvPr id="8" name="Rectangle 7"/>
          <p:cNvSpPr/>
          <p:nvPr/>
        </p:nvSpPr>
        <p:spPr>
          <a:xfrm>
            <a:off x="731520" y="1554480"/>
            <a:ext cx="347472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1554480"/>
            <a:ext cx="347472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600200"/>
            <a:ext cx="3474720" cy="411480"/>
          </a:xfrm>
          <a:prstGeom prst="rect">
            <a:avLst/>
          </a:prstGeom>
          <a:noFill/>
        </p:spPr>
        <p:txBody>
          <a:bodyPr wrap="none">
            <a:spAutoFit/>
          </a:bodyPr>
          <a:lstStyle/>
          <a:p>
            <a:pPr algn="ctr">
              <a:defRPr sz="1300" b="1">
                <a:solidFill>
                  <a:srgbClr val="FFFFFF"/>
                </a:solidFill>
                <a:latin typeface="Arial"/>
              </a:defRPr>
            </a:pPr>
            <a:r>
              <a:t>Backend Technologies</a:t>
            </a:r>
          </a:p>
        </p:txBody>
      </p:sp>
      <p:sp>
        <p:nvSpPr>
          <p:cNvPr id="11" name="TextBox 10"/>
          <p:cNvSpPr txBox="1"/>
          <p:nvPr/>
        </p:nvSpPr>
        <p:spPr>
          <a:xfrm>
            <a:off x="914400" y="2194560"/>
            <a:ext cx="3108960" cy="3657600"/>
          </a:xfrm>
          <a:prstGeom prst="rect">
            <a:avLst/>
          </a:prstGeom>
          <a:noFill/>
        </p:spPr>
        <p:txBody>
          <a:bodyPr wrap="square">
            <a:spAutoFit/>
          </a:bodyPr>
          <a:lstStyle/>
          <a:p>
            <a:pPr>
              <a:spcBef>
                <a:spcPts val="0"/>
              </a:spcBef>
              <a:defRPr sz="1200" b="1">
                <a:solidFill>
                  <a:srgbClr val="1A365D"/>
                </a:solidFill>
                <a:latin typeface="Arial"/>
              </a:defRPr>
            </a:pPr>
            <a:r>
              <a:t>Python 3.12</a:t>
            </a:r>
          </a:p>
          <a:p>
            <a:pPr>
              <a:spcBef>
                <a:spcPts val="200"/>
              </a:spcBef>
              <a:defRPr sz="1050">
                <a:solidFill>
                  <a:srgbClr val="2D3748"/>
                </a:solidFill>
                <a:latin typeface="Arial"/>
              </a:defRPr>
            </a:pPr>
            <a:r>
              <a:t>Core server programming language chosen for stability and extensive libraries.</a:t>
            </a:r>
          </a:p>
          <a:p>
            <a:pPr>
              <a:spcBef>
                <a:spcPts val="800"/>
              </a:spcBef>
              <a:defRPr sz="1200" b="1">
                <a:solidFill>
                  <a:srgbClr val="1A365D"/>
                </a:solidFill>
                <a:latin typeface="Arial"/>
              </a:defRPr>
            </a:pPr>
            <a:r>
              <a:t>Flask 3.0</a:t>
            </a:r>
          </a:p>
          <a:p>
            <a:pPr>
              <a:spcBef>
                <a:spcPts val="200"/>
              </a:spcBef>
              <a:defRPr sz="1050">
                <a:solidFill>
                  <a:srgbClr val="2D3748"/>
                </a:solidFill>
                <a:latin typeface="Arial"/>
              </a:defRPr>
            </a:pPr>
            <a:r>
              <a:t>WSGI web application framework handling routes, sessions, and request dispatching.</a:t>
            </a:r>
          </a:p>
          <a:p>
            <a:pPr>
              <a:spcBef>
                <a:spcPts val="800"/>
              </a:spcBef>
              <a:defRPr sz="1200" b="1">
                <a:solidFill>
                  <a:srgbClr val="1A365D"/>
                </a:solidFill>
                <a:latin typeface="Arial"/>
              </a:defRPr>
            </a:pPr>
            <a:r>
              <a:t>Werkzeug Security</a:t>
            </a:r>
          </a:p>
          <a:p>
            <a:pPr>
              <a:spcBef>
                <a:spcPts val="200"/>
              </a:spcBef>
              <a:defRPr sz="1050">
                <a:solidFill>
                  <a:srgbClr val="2D3748"/>
                </a:solidFill>
                <a:latin typeface="Arial"/>
              </a:defRPr>
            </a:pPr>
            <a:r>
              <a:t>Provides cryptographic password hashing using PBKDF2 SHA-256 algorithm.</a:t>
            </a:r>
          </a:p>
          <a:p>
            <a:pPr>
              <a:spcBef>
                <a:spcPts val="800"/>
              </a:spcBef>
              <a:defRPr sz="1200" b="1">
                <a:solidFill>
                  <a:srgbClr val="1A365D"/>
                </a:solidFill>
                <a:latin typeface="Arial"/>
              </a:defRPr>
            </a:pPr>
            <a:r>
              <a:t>Gunicorn</a:t>
            </a:r>
          </a:p>
          <a:p>
            <a:pPr>
              <a:spcBef>
                <a:spcPts val="200"/>
              </a:spcBef>
              <a:defRPr sz="1050">
                <a:solidFill>
                  <a:srgbClr val="2D3748"/>
                </a:solidFill>
                <a:latin typeface="Arial"/>
              </a:defRPr>
            </a:pPr>
            <a:r>
              <a:t>Production-grade UNIX WSGI HTTP server used for cloud deployment on Render.</a:t>
            </a:r>
          </a:p>
        </p:txBody>
      </p:sp>
      <p:sp>
        <p:nvSpPr>
          <p:cNvPr id="12" name="Rectangle 11"/>
          <p:cNvSpPr/>
          <p:nvPr/>
        </p:nvSpPr>
        <p:spPr>
          <a:xfrm>
            <a:off x="4389120" y="1554480"/>
            <a:ext cx="347472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0" y="1554480"/>
            <a:ext cx="347472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0" y="1600200"/>
            <a:ext cx="3474720" cy="411480"/>
          </a:xfrm>
          <a:prstGeom prst="rect">
            <a:avLst/>
          </a:prstGeom>
          <a:noFill/>
        </p:spPr>
        <p:txBody>
          <a:bodyPr wrap="none">
            <a:spAutoFit/>
          </a:bodyPr>
          <a:lstStyle/>
          <a:p>
            <a:pPr algn="ctr">
              <a:defRPr sz="1300" b="1">
                <a:solidFill>
                  <a:srgbClr val="FFFFFF"/>
                </a:solidFill>
                <a:latin typeface="Arial"/>
              </a:defRPr>
            </a:pPr>
            <a:r>
              <a:t>Frontend &amp; User Interface</a:t>
            </a:r>
          </a:p>
        </p:txBody>
      </p:sp>
      <p:sp>
        <p:nvSpPr>
          <p:cNvPr id="15" name="TextBox 14"/>
          <p:cNvSpPr txBox="1"/>
          <p:nvPr/>
        </p:nvSpPr>
        <p:spPr>
          <a:xfrm>
            <a:off x="4572000" y="2194560"/>
            <a:ext cx="3108960" cy="3657600"/>
          </a:xfrm>
          <a:prstGeom prst="rect">
            <a:avLst/>
          </a:prstGeom>
          <a:noFill/>
        </p:spPr>
        <p:txBody>
          <a:bodyPr wrap="square">
            <a:spAutoFit/>
          </a:bodyPr>
          <a:lstStyle/>
          <a:p>
            <a:pPr>
              <a:spcBef>
                <a:spcPts val="0"/>
              </a:spcBef>
              <a:defRPr sz="1200" b="1">
                <a:solidFill>
                  <a:srgbClr val="1A365D"/>
                </a:solidFill>
                <a:latin typeface="Arial"/>
              </a:defRPr>
            </a:pPr>
            <a:r>
              <a:t>HTML5 &amp; Jinja2</a:t>
            </a:r>
          </a:p>
          <a:p>
            <a:pPr>
              <a:spcBef>
                <a:spcPts val="200"/>
              </a:spcBef>
              <a:defRPr sz="1050">
                <a:solidFill>
                  <a:srgbClr val="2D3748"/>
                </a:solidFill>
                <a:latin typeface="Arial"/>
              </a:defRPr>
            </a:pPr>
            <a:r>
              <a:t>Semantic markup and dynamic server-side template rendering.</a:t>
            </a:r>
          </a:p>
          <a:p>
            <a:pPr>
              <a:spcBef>
                <a:spcPts val="800"/>
              </a:spcBef>
              <a:defRPr sz="1200" b="1">
                <a:solidFill>
                  <a:srgbClr val="1A365D"/>
                </a:solidFill>
                <a:latin typeface="Arial"/>
              </a:defRPr>
            </a:pPr>
            <a:r>
              <a:t>Tailwind CSS</a:t>
            </a:r>
          </a:p>
          <a:p>
            <a:pPr>
              <a:spcBef>
                <a:spcPts val="200"/>
              </a:spcBef>
              <a:defRPr sz="1050">
                <a:solidFill>
                  <a:srgbClr val="2D3748"/>
                </a:solidFill>
                <a:latin typeface="Arial"/>
              </a:defRPr>
            </a:pPr>
            <a:r>
              <a:t>Utility-first CSS framework ensuring responsive, clean, and modern layout.</a:t>
            </a:r>
          </a:p>
          <a:p>
            <a:pPr>
              <a:spcBef>
                <a:spcPts val="800"/>
              </a:spcBef>
              <a:defRPr sz="1200" b="1">
                <a:solidFill>
                  <a:srgbClr val="1A365D"/>
                </a:solidFill>
                <a:latin typeface="Arial"/>
              </a:defRPr>
            </a:pPr>
            <a:r>
              <a:t>JavaScript (ES6)</a:t>
            </a:r>
          </a:p>
          <a:p>
            <a:pPr>
              <a:spcBef>
                <a:spcPts val="200"/>
              </a:spcBef>
              <a:defRPr sz="1050">
                <a:solidFill>
                  <a:srgbClr val="2D3748"/>
                </a:solidFill>
                <a:latin typeface="Arial"/>
              </a:defRPr>
            </a:pPr>
            <a:r>
              <a:t>Asynchronous DOM manipulation, live calculation calls, and modal interactions.</a:t>
            </a:r>
          </a:p>
          <a:p>
            <a:pPr>
              <a:spcBef>
                <a:spcPts val="800"/>
              </a:spcBef>
              <a:defRPr sz="1200" b="1">
                <a:solidFill>
                  <a:srgbClr val="1A365D"/>
                </a:solidFill>
                <a:latin typeface="Arial"/>
              </a:defRPr>
            </a:pPr>
            <a:r>
              <a:t>Chart.js</a:t>
            </a:r>
          </a:p>
          <a:p>
            <a:pPr>
              <a:spcBef>
                <a:spcPts val="200"/>
              </a:spcBef>
              <a:defRPr sz="1050">
                <a:solidFill>
                  <a:srgbClr val="2D3748"/>
                </a:solidFill>
                <a:latin typeface="Arial"/>
              </a:defRPr>
            </a:pPr>
            <a:r>
              <a:t>Canvas-based charting library for visualizing leave trends and category usage.</a:t>
            </a:r>
          </a:p>
        </p:txBody>
      </p:sp>
      <p:sp>
        <p:nvSpPr>
          <p:cNvPr id="16" name="Rectangle 15"/>
          <p:cNvSpPr/>
          <p:nvPr/>
        </p:nvSpPr>
        <p:spPr>
          <a:xfrm>
            <a:off x="8046720" y="1554480"/>
            <a:ext cx="347472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46720" y="1554480"/>
            <a:ext cx="3474720" cy="50292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600200"/>
            <a:ext cx="3474720" cy="411480"/>
          </a:xfrm>
          <a:prstGeom prst="rect">
            <a:avLst/>
          </a:prstGeom>
          <a:noFill/>
        </p:spPr>
        <p:txBody>
          <a:bodyPr wrap="none">
            <a:spAutoFit/>
          </a:bodyPr>
          <a:lstStyle/>
          <a:p>
            <a:pPr algn="ctr">
              <a:defRPr sz="1300" b="1">
                <a:solidFill>
                  <a:srgbClr val="FFFFFF"/>
                </a:solidFill>
                <a:latin typeface="Arial"/>
              </a:defRPr>
            </a:pPr>
            <a:r>
              <a:t>Database &amp; DevOps</a:t>
            </a:r>
          </a:p>
        </p:txBody>
      </p:sp>
      <p:sp>
        <p:nvSpPr>
          <p:cNvPr id="19" name="TextBox 18"/>
          <p:cNvSpPr txBox="1"/>
          <p:nvPr/>
        </p:nvSpPr>
        <p:spPr>
          <a:xfrm>
            <a:off x="8229600" y="2194560"/>
            <a:ext cx="3108960" cy="3657600"/>
          </a:xfrm>
          <a:prstGeom prst="rect">
            <a:avLst/>
          </a:prstGeom>
          <a:noFill/>
        </p:spPr>
        <p:txBody>
          <a:bodyPr wrap="square">
            <a:spAutoFit/>
          </a:bodyPr>
          <a:lstStyle/>
          <a:p>
            <a:pPr>
              <a:spcBef>
                <a:spcPts val="0"/>
              </a:spcBef>
              <a:defRPr sz="1200" b="1">
                <a:solidFill>
                  <a:srgbClr val="1A365D"/>
                </a:solidFill>
                <a:latin typeface="Arial"/>
              </a:defRPr>
            </a:pPr>
            <a:r>
              <a:t>SQLite3 Engine</a:t>
            </a:r>
          </a:p>
          <a:p>
            <a:pPr>
              <a:spcBef>
                <a:spcPts val="200"/>
              </a:spcBef>
              <a:defRPr sz="1050">
                <a:solidFill>
                  <a:srgbClr val="2D3748"/>
                </a:solidFill>
                <a:latin typeface="Arial"/>
              </a:defRPr>
            </a:pPr>
            <a:r>
              <a:t>Lightweight, zero-configuration relational database with full ACID compliance.</a:t>
            </a:r>
          </a:p>
          <a:p>
            <a:pPr>
              <a:spcBef>
                <a:spcPts val="800"/>
              </a:spcBef>
              <a:defRPr sz="1200" b="1">
                <a:solidFill>
                  <a:srgbClr val="1A365D"/>
                </a:solidFill>
                <a:latin typeface="Arial"/>
              </a:defRPr>
            </a:pPr>
            <a:r>
              <a:t>Python unittest</a:t>
            </a:r>
          </a:p>
          <a:p>
            <a:pPr>
              <a:spcBef>
                <a:spcPts val="200"/>
              </a:spcBef>
              <a:defRPr sz="1050">
                <a:solidFill>
                  <a:srgbClr val="2D3748"/>
                </a:solidFill>
                <a:latin typeface="Arial"/>
              </a:defRPr>
            </a:pPr>
            <a:r>
              <a:t>Automated unit test framework used for comprehensive quality assurance.</a:t>
            </a:r>
          </a:p>
          <a:p>
            <a:pPr>
              <a:spcBef>
                <a:spcPts val="800"/>
              </a:spcBef>
              <a:defRPr sz="1200" b="1">
                <a:solidFill>
                  <a:srgbClr val="1A365D"/>
                </a:solidFill>
                <a:latin typeface="Arial"/>
              </a:defRPr>
            </a:pPr>
            <a:r>
              <a:t>Git &amp; GitHub</a:t>
            </a:r>
          </a:p>
          <a:p>
            <a:pPr>
              <a:spcBef>
                <a:spcPts val="200"/>
              </a:spcBef>
              <a:defRPr sz="1050">
                <a:solidFill>
                  <a:srgbClr val="2D3748"/>
                </a:solidFill>
                <a:latin typeface="Arial"/>
              </a:defRPr>
            </a:pPr>
            <a:r>
              <a:t>Distributed version control system for tracking changes and repository hosting.</a:t>
            </a:r>
          </a:p>
          <a:p>
            <a:pPr>
              <a:spcBef>
                <a:spcPts val="800"/>
              </a:spcBef>
              <a:defRPr sz="1200" b="1">
                <a:solidFill>
                  <a:srgbClr val="1A365D"/>
                </a:solidFill>
                <a:latin typeface="Arial"/>
              </a:defRPr>
            </a:pPr>
            <a:r>
              <a:t>Render Cloud</a:t>
            </a:r>
          </a:p>
          <a:p>
            <a:pPr>
              <a:spcBef>
                <a:spcPts val="200"/>
              </a:spcBef>
              <a:defRPr sz="1050">
                <a:solidFill>
                  <a:srgbClr val="2D3748"/>
                </a:solidFill>
                <a:latin typeface="Arial"/>
              </a:defRPr>
            </a:pPr>
            <a:r>
              <a:t>Cloud hosting platform providing continuous deployment directly from GitHub.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DATA ARCHITECTURE</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Database Schema &amp; Entity Relationships</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6 of 10</a:t>
            </a:r>
          </a:p>
        </p:txBody>
      </p:sp>
      <p:sp>
        <p:nvSpPr>
          <p:cNvPr id="8" name="Rectangle 7"/>
          <p:cNvSpPr/>
          <p:nvPr/>
        </p:nvSpPr>
        <p:spPr>
          <a:xfrm>
            <a:off x="731520" y="1554480"/>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1664208"/>
            <a:ext cx="2011680" cy="566928"/>
          </a:xfrm>
          <a:prstGeom prst="rect">
            <a:avLst/>
          </a:prstGeom>
          <a:solidFill>
            <a:srgbClr val="EDF2F7"/>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365D"/>
                </a:solidFill>
                <a:latin typeface="Arial"/>
              </a:defRPr>
            </a:pPr>
            <a:r>
              <a:t>users</a:t>
            </a:r>
          </a:p>
        </p:txBody>
      </p:sp>
      <p:sp>
        <p:nvSpPr>
          <p:cNvPr id="10" name="TextBox 9"/>
          <p:cNvSpPr txBox="1"/>
          <p:nvPr/>
        </p:nvSpPr>
        <p:spPr>
          <a:xfrm>
            <a:off x="3017520" y="1627632"/>
            <a:ext cx="8229600" cy="685800"/>
          </a:xfrm>
          <a:prstGeom prst="rect">
            <a:avLst/>
          </a:prstGeom>
          <a:noFill/>
        </p:spPr>
        <p:txBody>
          <a:bodyPr wrap="square">
            <a:spAutoFit/>
          </a:bodyPr>
          <a:lstStyle/>
          <a:p>
            <a:pPr>
              <a:defRPr sz="1150" b="1">
                <a:solidFill>
                  <a:srgbClr val="2B6CB0"/>
                </a:solidFill>
                <a:latin typeface="Arial"/>
              </a:defRPr>
            </a:pPr>
            <a:r>
              <a:t>Purpose: Stores staff information</a:t>
            </a:r>
          </a:p>
          <a:p>
            <a:pPr>
              <a:spcBef>
                <a:spcPts val="200"/>
              </a:spcBef>
              <a:defRPr sz="1050">
                <a:solidFill>
                  <a:srgbClr val="2D3748"/>
                </a:solidFill>
                <a:latin typeface="Arial"/>
              </a:defRPr>
            </a:pPr>
            <a:r>
              <a:t>Fields: id (INTEGER PK), emp_code (UNIQUE), full_name, email (UNIQUE)</a:t>
            </a:r>
          </a:p>
          <a:p>
            <a:pPr>
              <a:spcBef>
                <a:spcPts val="200"/>
              </a:spcBef>
              <a:defRPr sz="1050">
                <a:solidFill>
                  <a:srgbClr val="2D3748"/>
                </a:solidFill>
                <a:latin typeface="Arial"/>
              </a:defRPr>
            </a:pPr>
            <a:r>
              <a:t>Fields: password_hash (PBKDF2), role ('admin' / 'employee')</a:t>
            </a:r>
          </a:p>
          <a:p>
            <a:pPr>
              <a:spcBef>
                <a:spcPts val="200"/>
              </a:spcBef>
              <a:defRPr sz="1050">
                <a:solidFill>
                  <a:srgbClr val="2D3748"/>
                </a:solidFill>
                <a:latin typeface="Arial"/>
              </a:defRPr>
            </a:pPr>
            <a:r>
              <a:t>Fields: department, designation, join_date, is_active</a:t>
            </a:r>
          </a:p>
        </p:txBody>
      </p:sp>
      <p:sp>
        <p:nvSpPr>
          <p:cNvPr id="11" name="Rectangle 10"/>
          <p:cNvSpPr/>
          <p:nvPr/>
        </p:nvSpPr>
        <p:spPr>
          <a:xfrm>
            <a:off x="731520" y="2450591"/>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22960" y="2560319"/>
            <a:ext cx="2011680" cy="566928"/>
          </a:xfrm>
          <a:prstGeom prst="rect">
            <a:avLst/>
          </a:prstGeom>
          <a:solidFill>
            <a:srgbClr val="EDF2F7"/>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365D"/>
                </a:solidFill>
                <a:latin typeface="Arial"/>
              </a:defRPr>
            </a:pPr>
            <a:r>
              <a:t>leave_types</a:t>
            </a:r>
          </a:p>
        </p:txBody>
      </p:sp>
      <p:sp>
        <p:nvSpPr>
          <p:cNvPr id="13" name="TextBox 12"/>
          <p:cNvSpPr txBox="1"/>
          <p:nvPr/>
        </p:nvSpPr>
        <p:spPr>
          <a:xfrm>
            <a:off x="3017520" y="2523743"/>
            <a:ext cx="8229600" cy="685800"/>
          </a:xfrm>
          <a:prstGeom prst="rect">
            <a:avLst/>
          </a:prstGeom>
          <a:noFill/>
        </p:spPr>
        <p:txBody>
          <a:bodyPr wrap="square">
            <a:spAutoFit/>
          </a:bodyPr>
          <a:lstStyle/>
          <a:p>
            <a:pPr>
              <a:defRPr sz="1150" b="1">
                <a:solidFill>
                  <a:srgbClr val="2B6CB0"/>
                </a:solidFill>
                <a:latin typeface="Arial"/>
              </a:defRPr>
            </a:pPr>
            <a:r>
              <a:t>Purpose: Defines leave categories</a:t>
            </a:r>
          </a:p>
          <a:p>
            <a:pPr>
              <a:spcBef>
                <a:spcPts val="200"/>
              </a:spcBef>
              <a:defRPr sz="1050">
                <a:solidFill>
                  <a:srgbClr val="2D3748"/>
                </a:solidFill>
                <a:latin typeface="Arial"/>
              </a:defRPr>
            </a:pPr>
            <a:r>
              <a:t>Fields: id (INTEGER PK), name (Annual, Sick, Casual, etc.)</a:t>
            </a:r>
          </a:p>
          <a:p>
            <a:pPr>
              <a:spcBef>
                <a:spcPts val="200"/>
              </a:spcBef>
              <a:defRPr sz="1050">
                <a:solidFill>
                  <a:srgbClr val="2D3748"/>
                </a:solidFill>
                <a:latin typeface="Arial"/>
              </a:defRPr>
            </a:pPr>
            <a:r>
              <a:t>Fields: code (AL, SL, CL, ML, PL, UL), default_days, color_code</a:t>
            </a:r>
          </a:p>
        </p:txBody>
      </p:sp>
      <p:sp>
        <p:nvSpPr>
          <p:cNvPr id="14" name="Rectangle 13"/>
          <p:cNvSpPr/>
          <p:nvPr/>
        </p:nvSpPr>
        <p:spPr>
          <a:xfrm>
            <a:off x="731520" y="3346704"/>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22960" y="3456432"/>
            <a:ext cx="2011680" cy="566928"/>
          </a:xfrm>
          <a:prstGeom prst="rect">
            <a:avLst/>
          </a:prstGeom>
          <a:solidFill>
            <a:srgbClr val="EDF2F7"/>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365D"/>
                </a:solidFill>
                <a:latin typeface="Arial"/>
              </a:defRPr>
            </a:pPr>
            <a:r>
              <a:t>leave_balances</a:t>
            </a:r>
          </a:p>
        </p:txBody>
      </p:sp>
      <p:sp>
        <p:nvSpPr>
          <p:cNvPr id="16" name="TextBox 15"/>
          <p:cNvSpPr txBox="1"/>
          <p:nvPr/>
        </p:nvSpPr>
        <p:spPr>
          <a:xfrm>
            <a:off x="3017520" y="3419856"/>
            <a:ext cx="8229600" cy="685800"/>
          </a:xfrm>
          <a:prstGeom prst="rect">
            <a:avLst/>
          </a:prstGeom>
          <a:noFill/>
        </p:spPr>
        <p:txBody>
          <a:bodyPr wrap="square">
            <a:spAutoFit/>
          </a:bodyPr>
          <a:lstStyle/>
          <a:p>
            <a:pPr>
              <a:defRPr sz="1150" b="1">
                <a:solidFill>
                  <a:srgbClr val="2B6CB0"/>
                </a:solidFill>
                <a:latin typeface="Arial"/>
              </a:defRPr>
            </a:pPr>
            <a:r>
              <a:t>Purpose: Tracks annual allowances per employee</a:t>
            </a:r>
          </a:p>
          <a:p>
            <a:pPr>
              <a:spcBef>
                <a:spcPts val="200"/>
              </a:spcBef>
              <a:defRPr sz="1050">
                <a:solidFill>
                  <a:srgbClr val="2D3748"/>
                </a:solidFill>
                <a:latin typeface="Arial"/>
              </a:defRPr>
            </a:pPr>
            <a:r>
              <a:t>Fields: id (INTEGER PK), user_id (FK -&gt; users), leave_type_id (FK -&gt; leave_types)</a:t>
            </a:r>
          </a:p>
          <a:p>
            <a:pPr>
              <a:spcBef>
                <a:spcPts val="200"/>
              </a:spcBef>
              <a:defRPr sz="1050">
                <a:solidFill>
                  <a:srgbClr val="2D3748"/>
                </a:solidFill>
                <a:latin typeface="Arial"/>
              </a:defRPr>
            </a:pPr>
            <a:r>
              <a:t>Fields: year (INTEGER), total_allocated, used_days, pending_days</a:t>
            </a:r>
          </a:p>
        </p:txBody>
      </p:sp>
      <p:sp>
        <p:nvSpPr>
          <p:cNvPr id="17" name="Rectangle 16"/>
          <p:cNvSpPr/>
          <p:nvPr/>
        </p:nvSpPr>
        <p:spPr>
          <a:xfrm>
            <a:off x="731520" y="4242816"/>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2960" y="4352544"/>
            <a:ext cx="2011680" cy="566928"/>
          </a:xfrm>
          <a:prstGeom prst="rect">
            <a:avLst/>
          </a:prstGeom>
          <a:solidFill>
            <a:srgbClr val="EDF2F7"/>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365D"/>
                </a:solidFill>
                <a:latin typeface="Arial"/>
              </a:defRPr>
            </a:pPr>
            <a:r>
              <a:t>leave_applications</a:t>
            </a:r>
          </a:p>
        </p:txBody>
      </p:sp>
      <p:sp>
        <p:nvSpPr>
          <p:cNvPr id="19" name="TextBox 18"/>
          <p:cNvSpPr txBox="1"/>
          <p:nvPr/>
        </p:nvSpPr>
        <p:spPr>
          <a:xfrm>
            <a:off x="3017520" y="4315968"/>
            <a:ext cx="8229600" cy="685800"/>
          </a:xfrm>
          <a:prstGeom prst="rect">
            <a:avLst/>
          </a:prstGeom>
          <a:noFill/>
        </p:spPr>
        <p:txBody>
          <a:bodyPr wrap="square">
            <a:spAutoFit/>
          </a:bodyPr>
          <a:lstStyle/>
          <a:p>
            <a:pPr>
              <a:defRPr sz="1150" b="1">
                <a:solidFill>
                  <a:srgbClr val="2B6CB0"/>
                </a:solidFill>
                <a:latin typeface="Arial"/>
              </a:defRPr>
            </a:pPr>
            <a:r>
              <a:t>Purpose: Stores submitted leave requests</a:t>
            </a:r>
          </a:p>
          <a:p>
            <a:pPr>
              <a:spcBef>
                <a:spcPts val="200"/>
              </a:spcBef>
              <a:defRPr sz="1050">
                <a:solidFill>
                  <a:srgbClr val="2D3748"/>
                </a:solidFill>
                <a:latin typeface="Arial"/>
              </a:defRPr>
            </a:pPr>
            <a:r>
              <a:t>Fields: id (INTEGER PK), user_id (FK), leave_type_id (FK), start_date, end_date</a:t>
            </a:r>
          </a:p>
          <a:p>
            <a:pPr>
              <a:spcBef>
                <a:spcPts val="200"/>
              </a:spcBef>
              <a:defRPr sz="1050">
                <a:solidFill>
                  <a:srgbClr val="2D3748"/>
                </a:solidFill>
                <a:latin typeface="Arial"/>
              </a:defRPr>
            </a:pPr>
            <a:r>
              <a:t>Fields: total_days, is_half_day, reason, status ('pending', 'approved', 'rejected', 'cancelled')</a:t>
            </a:r>
          </a:p>
          <a:p>
            <a:pPr>
              <a:spcBef>
                <a:spcPts val="200"/>
              </a:spcBef>
              <a:defRPr sz="1050">
                <a:solidFill>
                  <a:srgbClr val="2D3748"/>
                </a:solidFill>
                <a:latin typeface="Arial"/>
              </a:defRPr>
            </a:pPr>
            <a:r>
              <a:t>Fields: reviewed_by (FK), reviewed_at, manager_remarks</a:t>
            </a:r>
          </a:p>
        </p:txBody>
      </p:sp>
      <p:sp>
        <p:nvSpPr>
          <p:cNvPr id="20" name="Rectangle 19"/>
          <p:cNvSpPr/>
          <p:nvPr/>
        </p:nvSpPr>
        <p:spPr>
          <a:xfrm>
            <a:off x="731520" y="5138928"/>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 y="5248656"/>
            <a:ext cx="2011680" cy="566928"/>
          </a:xfrm>
          <a:prstGeom prst="rect">
            <a:avLst/>
          </a:prstGeom>
          <a:solidFill>
            <a:srgbClr val="EDF2F7"/>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365D"/>
                </a:solidFill>
                <a:latin typeface="Arial"/>
              </a:defRPr>
            </a:pPr>
            <a:r>
              <a:t>holidays</a:t>
            </a:r>
          </a:p>
        </p:txBody>
      </p:sp>
      <p:sp>
        <p:nvSpPr>
          <p:cNvPr id="22" name="TextBox 21"/>
          <p:cNvSpPr txBox="1"/>
          <p:nvPr/>
        </p:nvSpPr>
        <p:spPr>
          <a:xfrm>
            <a:off x="3017520" y="5212080"/>
            <a:ext cx="8229600" cy="685800"/>
          </a:xfrm>
          <a:prstGeom prst="rect">
            <a:avLst/>
          </a:prstGeom>
          <a:noFill/>
        </p:spPr>
        <p:txBody>
          <a:bodyPr wrap="square">
            <a:spAutoFit/>
          </a:bodyPr>
          <a:lstStyle/>
          <a:p>
            <a:pPr>
              <a:defRPr sz="1150" b="1">
                <a:solidFill>
                  <a:srgbClr val="2B6CB0"/>
                </a:solidFill>
                <a:latin typeface="Arial"/>
              </a:defRPr>
            </a:pPr>
            <a:r>
              <a:t>Purpose: Official company calendar</a:t>
            </a:r>
          </a:p>
          <a:p>
            <a:pPr>
              <a:spcBef>
                <a:spcPts val="200"/>
              </a:spcBef>
              <a:defRPr sz="1050">
                <a:solidFill>
                  <a:srgbClr val="2D3748"/>
                </a:solidFill>
                <a:latin typeface="Arial"/>
              </a:defRPr>
            </a:pPr>
            <a:r>
              <a:t>Fields: id (INTEGER PK), name, holiday_date (YYYY-MM-DD), description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SYSTEM FEATURES</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Core Modules &amp; System Functionalities</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7 of 10</a:t>
            </a:r>
          </a:p>
        </p:txBody>
      </p:sp>
      <p:sp>
        <p:nvSpPr>
          <p:cNvPr id="8" name="Rectangle 7"/>
          <p:cNvSpPr/>
          <p:nvPr/>
        </p:nvSpPr>
        <p:spPr>
          <a:xfrm>
            <a:off x="731520" y="1554480"/>
            <a:ext cx="512064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91640"/>
            <a:ext cx="4754880" cy="4114800"/>
          </a:xfrm>
          <a:prstGeom prst="rect">
            <a:avLst/>
          </a:prstGeom>
          <a:noFill/>
        </p:spPr>
        <p:txBody>
          <a:bodyPr wrap="square">
            <a:spAutoFit/>
          </a:bodyPr>
          <a:lstStyle/>
          <a:p>
            <a:pPr>
              <a:defRPr sz="1500" b="1">
                <a:solidFill>
                  <a:srgbClr val="1A365D"/>
                </a:solidFill>
                <a:latin typeface="Arial"/>
              </a:defRPr>
            </a:pPr>
            <a:r>
              <a:t>1. Employee Self-Service Module</a:t>
            </a:r>
          </a:p>
          <a:p>
            <a:pPr>
              <a:spcBef>
                <a:spcPts val="600"/>
              </a:spcBef>
              <a:defRPr sz="1100">
                <a:solidFill>
                  <a:srgbClr val="2D3748"/>
                </a:solidFill>
                <a:latin typeface="Arial"/>
              </a:defRPr>
            </a:pPr>
            <a:r>
              <a:t>•  Personal Dashboard: Overview of annual quota, total used days, pending review days, and available balance.</a:t>
            </a:r>
          </a:p>
          <a:p>
            <a:pPr>
              <a:spcBef>
                <a:spcPts val="600"/>
              </a:spcBef>
              <a:defRPr sz="1100">
                <a:solidFill>
                  <a:srgbClr val="2D3748"/>
                </a:solidFill>
                <a:latin typeface="Arial"/>
              </a:defRPr>
            </a:pPr>
            <a:r>
              <a:t>•  Leave Application Form: Interactive form with dropdown categories, date pickers, and reason text area.</a:t>
            </a:r>
          </a:p>
          <a:p>
            <a:pPr>
              <a:spcBef>
                <a:spcPts val="600"/>
              </a:spcBef>
              <a:defRPr sz="1100">
                <a:solidFill>
                  <a:srgbClr val="2D3748"/>
                </a:solidFill>
                <a:latin typeface="Arial"/>
              </a:defRPr>
            </a:pPr>
            <a:r>
              <a:t>•  Dynamic Day Calculator: Calculates working days instantly via AJAX before submission.</a:t>
            </a:r>
          </a:p>
          <a:p>
            <a:pPr>
              <a:spcBef>
                <a:spcPts val="600"/>
              </a:spcBef>
              <a:defRPr sz="1100">
                <a:solidFill>
                  <a:srgbClr val="2D3748"/>
                </a:solidFill>
                <a:latin typeface="Arial"/>
              </a:defRPr>
            </a:pPr>
            <a:r>
              <a:t>•  Half-Day Option: Checkbox sets duration to 0.5 days on start date with single date constraint.</a:t>
            </a:r>
          </a:p>
          <a:p>
            <a:pPr>
              <a:spcBef>
                <a:spcPts val="600"/>
              </a:spcBef>
              <a:defRPr sz="1100">
                <a:solidFill>
                  <a:srgbClr val="2D3748"/>
                </a:solidFill>
                <a:latin typeface="Arial"/>
              </a:defRPr>
            </a:pPr>
            <a:r>
              <a:t>•  Application History: Tabular display of all submitted requests with status badges and manager remarks.</a:t>
            </a:r>
          </a:p>
          <a:p>
            <a:pPr>
              <a:spcBef>
                <a:spcPts val="600"/>
              </a:spcBef>
              <a:defRPr sz="1100">
                <a:solidFill>
                  <a:srgbClr val="2D3748"/>
                </a:solidFill>
                <a:latin typeface="Arial"/>
              </a:defRPr>
            </a:pPr>
            <a:r>
              <a:t>•  Self-Service Cancellation: Allows withdrawing pending requests, immediately releasing the quota hold.</a:t>
            </a:r>
          </a:p>
        </p:txBody>
      </p:sp>
      <p:sp>
        <p:nvSpPr>
          <p:cNvPr id="10" name="Rectangle 9"/>
          <p:cNvSpPr/>
          <p:nvPr/>
        </p:nvSpPr>
        <p:spPr>
          <a:xfrm>
            <a:off x="6217920" y="1554480"/>
            <a:ext cx="521208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4846320" cy="4114800"/>
          </a:xfrm>
          <a:prstGeom prst="rect">
            <a:avLst/>
          </a:prstGeom>
          <a:noFill/>
        </p:spPr>
        <p:txBody>
          <a:bodyPr wrap="square">
            <a:spAutoFit/>
          </a:bodyPr>
          <a:lstStyle/>
          <a:p>
            <a:pPr>
              <a:defRPr sz="1500" b="1">
                <a:solidFill>
                  <a:srgbClr val="2B6CB0"/>
                </a:solidFill>
                <a:latin typeface="Arial"/>
              </a:defRPr>
            </a:pPr>
            <a:r>
              <a:t>2. HR Administrator &amp; Manager Module</a:t>
            </a:r>
          </a:p>
          <a:p>
            <a:pPr>
              <a:spcBef>
                <a:spcPts val="600"/>
              </a:spcBef>
              <a:defRPr sz="1100">
                <a:solidFill>
                  <a:srgbClr val="2D3748"/>
                </a:solidFill>
                <a:latin typeface="Arial"/>
              </a:defRPr>
            </a:pPr>
            <a:r>
              <a:t>•  Executive KPI Dashboard: Real-time indicators showing active employees, pending review count, and employees on leave today.</a:t>
            </a:r>
          </a:p>
          <a:p>
            <a:pPr>
              <a:spcBef>
                <a:spcPts val="600"/>
              </a:spcBef>
              <a:defRPr sz="1100">
                <a:solidFill>
                  <a:srgbClr val="2D3748"/>
                </a:solidFill>
                <a:latin typeface="Arial"/>
              </a:defRPr>
            </a:pPr>
            <a:r>
              <a:t>•  Approvals Queue: List of pending applications showing applicant profile, requested dates, and current balance.</a:t>
            </a:r>
          </a:p>
          <a:p>
            <a:pPr>
              <a:spcBef>
                <a:spcPts val="600"/>
              </a:spcBef>
              <a:defRPr sz="1100">
                <a:solidFill>
                  <a:srgbClr val="2D3748"/>
                </a:solidFill>
                <a:latin typeface="Arial"/>
              </a:defRPr>
            </a:pPr>
            <a:r>
              <a:t>•  Modal Decision Workflows: Approve or reject requests with mandatory manager feedback remarks.</a:t>
            </a:r>
          </a:p>
          <a:p>
            <a:pPr>
              <a:spcBef>
                <a:spcPts val="600"/>
              </a:spcBef>
              <a:defRPr sz="1100">
                <a:solidFill>
                  <a:srgbClr val="2D3748"/>
                </a:solidFill>
                <a:latin typeface="Arial"/>
              </a:defRPr>
            </a:pPr>
            <a:r>
              <a:t>•  Employee Directory: Register new employees with automated initial leave balance creation.</a:t>
            </a:r>
          </a:p>
          <a:p>
            <a:pPr>
              <a:spcBef>
                <a:spcPts val="600"/>
              </a:spcBef>
              <a:defRPr sz="1100">
                <a:solidFill>
                  <a:srgbClr val="2D3748"/>
                </a:solidFill>
                <a:latin typeface="Arial"/>
              </a:defRPr>
            </a:pPr>
            <a:r>
              <a:t>•  Quota Calibration: Adjust annual quota allocation per employee and category as needed.</a:t>
            </a:r>
          </a:p>
          <a:p>
            <a:pPr>
              <a:spcBef>
                <a:spcPts val="600"/>
              </a:spcBef>
              <a:defRPr sz="1100">
                <a:solidFill>
                  <a:srgbClr val="2D3748"/>
                </a:solidFill>
                <a:latin typeface="Arial"/>
              </a:defRPr>
            </a:pPr>
            <a:r>
              <a:t>•  Reporting &amp; CSV Export: Filter leave history by department, status, or type; export compliance records to CSV.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SYSTEM IMPLEMENTATION</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Key Business Logic &amp; Validation Rules</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8 of 10</a:t>
            </a:r>
          </a:p>
        </p:txBody>
      </p:sp>
      <p:sp>
        <p:nvSpPr>
          <p:cNvPr id="8" name="Rectangle 7"/>
          <p:cNvSpPr/>
          <p:nvPr/>
        </p:nvSpPr>
        <p:spPr>
          <a:xfrm>
            <a:off x="731520" y="1554480"/>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27632"/>
            <a:ext cx="10332720" cy="685800"/>
          </a:xfrm>
          <a:prstGeom prst="rect">
            <a:avLst/>
          </a:prstGeom>
          <a:noFill/>
        </p:spPr>
        <p:txBody>
          <a:bodyPr wrap="square">
            <a:spAutoFit/>
          </a:bodyPr>
          <a:lstStyle/>
          <a:p>
            <a:pPr>
              <a:defRPr sz="1300" b="1">
                <a:solidFill>
                  <a:srgbClr val="1A365D"/>
                </a:solidFill>
                <a:latin typeface="Arial"/>
              </a:defRPr>
            </a:pPr>
            <a:r>
              <a:t>1. Business Day Calculation Algorithm</a:t>
            </a:r>
          </a:p>
          <a:p>
            <a:pPr>
              <a:spcBef>
                <a:spcPts val="300"/>
              </a:spcBef>
              <a:defRPr sz="1100">
                <a:solidFill>
                  <a:srgbClr val="2D3748"/>
                </a:solidFill>
                <a:latin typeface="Arial"/>
              </a:defRPr>
            </a:pPr>
            <a:r>
              <a:t>The system iterates through each calendar day in the requested date range. If a day falls on Saturday (weekday 5) or Sunday (weekday 6) or matches an official public holiday date in the database, it is automatically excluded. Only net business working days are counted.</a:t>
            </a:r>
          </a:p>
        </p:txBody>
      </p:sp>
      <p:sp>
        <p:nvSpPr>
          <p:cNvPr id="10" name="Rectangle 9"/>
          <p:cNvSpPr/>
          <p:nvPr/>
        </p:nvSpPr>
        <p:spPr>
          <a:xfrm>
            <a:off x="731520" y="2450591"/>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23743"/>
            <a:ext cx="10332720" cy="685800"/>
          </a:xfrm>
          <a:prstGeom prst="rect">
            <a:avLst/>
          </a:prstGeom>
          <a:noFill/>
        </p:spPr>
        <p:txBody>
          <a:bodyPr wrap="square">
            <a:spAutoFit/>
          </a:bodyPr>
          <a:lstStyle/>
          <a:p>
            <a:pPr>
              <a:defRPr sz="1300" b="1">
                <a:solidFill>
                  <a:srgbClr val="1A365D"/>
                </a:solidFill>
                <a:latin typeface="Arial"/>
              </a:defRPr>
            </a:pPr>
            <a:r>
              <a:t>2. Pending Hold Mechanism</a:t>
            </a:r>
          </a:p>
          <a:p>
            <a:pPr>
              <a:spcBef>
                <a:spcPts val="300"/>
              </a:spcBef>
              <a:defRPr sz="1100">
                <a:solidFill>
                  <a:srgbClr val="2D3748"/>
                </a:solidFill>
                <a:latin typeface="Arial"/>
              </a:defRPr>
            </a:pPr>
            <a:r>
              <a:t>When an employee applies for leave, the requested days are immediately added to 'pending_days' in their balance record. This temporarily locks the quota to prevent concurrent double-booking. Upon approval, pending days move to 'used_days'; if rejected or cancelled, pending days are released.</a:t>
            </a:r>
          </a:p>
        </p:txBody>
      </p:sp>
      <p:sp>
        <p:nvSpPr>
          <p:cNvPr id="12" name="Rectangle 11"/>
          <p:cNvSpPr/>
          <p:nvPr/>
        </p:nvSpPr>
        <p:spPr>
          <a:xfrm>
            <a:off x="731520" y="3346704"/>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419856"/>
            <a:ext cx="10332720" cy="685800"/>
          </a:xfrm>
          <a:prstGeom prst="rect">
            <a:avLst/>
          </a:prstGeom>
          <a:noFill/>
        </p:spPr>
        <p:txBody>
          <a:bodyPr wrap="square">
            <a:spAutoFit/>
          </a:bodyPr>
          <a:lstStyle/>
          <a:p>
            <a:pPr>
              <a:defRPr sz="1300" b="1">
                <a:solidFill>
                  <a:srgbClr val="1A365D"/>
                </a:solidFill>
                <a:latin typeface="Arial"/>
              </a:defRPr>
            </a:pPr>
            <a:r>
              <a:t>3. Date Overlap and Conflict Detection</a:t>
            </a:r>
          </a:p>
          <a:p>
            <a:pPr>
              <a:spcBef>
                <a:spcPts val="300"/>
              </a:spcBef>
              <a:defRPr sz="1100">
                <a:solidFill>
                  <a:srgbClr val="2D3748"/>
                </a:solidFill>
                <a:latin typeface="Arial"/>
              </a:defRPr>
            </a:pPr>
            <a:r>
              <a:t>Before saving an application, the system queries existing pending and approved records for the same employee. If the requested date range overlaps with any existing booking, the application is rejected with a descriptive warning message.</a:t>
            </a:r>
          </a:p>
        </p:txBody>
      </p:sp>
      <p:sp>
        <p:nvSpPr>
          <p:cNvPr id="14" name="Rectangle 13"/>
          <p:cNvSpPr/>
          <p:nvPr/>
        </p:nvSpPr>
        <p:spPr>
          <a:xfrm>
            <a:off x="731520" y="4242816"/>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315968"/>
            <a:ext cx="10332720" cy="685800"/>
          </a:xfrm>
          <a:prstGeom prst="rect">
            <a:avLst/>
          </a:prstGeom>
          <a:noFill/>
        </p:spPr>
        <p:txBody>
          <a:bodyPr wrap="square">
            <a:spAutoFit/>
          </a:bodyPr>
          <a:lstStyle/>
          <a:p>
            <a:pPr>
              <a:defRPr sz="1300" b="1">
                <a:solidFill>
                  <a:srgbClr val="1A365D"/>
                </a:solidFill>
                <a:latin typeface="Arial"/>
              </a:defRPr>
            </a:pPr>
            <a:r>
              <a:t>4. Balance Sufficiency Verification</a:t>
            </a:r>
          </a:p>
          <a:p>
            <a:pPr>
              <a:spcBef>
                <a:spcPts val="300"/>
              </a:spcBef>
              <a:defRPr sz="1100">
                <a:solidFill>
                  <a:srgbClr val="2D3748"/>
                </a:solidFill>
                <a:latin typeface="Arial"/>
              </a:defRPr>
            </a:pPr>
            <a:r>
              <a:t>Applications requesting more business days than the remaining available quota (total_allocated - used_days - pending_days) are automatically rejected prior to database insertion.</a:t>
            </a:r>
          </a:p>
        </p:txBody>
      </p:sp>
      <p:sp>
        <p:nvSpPr>
          <p:cNvPr id="16" name="Rectangle 15"/>
          <p:cNvSpPr/>
          <p:nvPr/>
        </p:nvSpPr>
        <p:spPr>
          <a:xfrm>
            <a:off x="731520" y="5138928"/>
            <a:ext cx="10728655" cy="804672"/>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5212080"/>
            <a:ext cx="10332720" cy="685800"/>
          </a:xfrm>
          <a:prstGeom prst="rect">
            <a:avLst/>
          </a:prstGeom>
          <a:noFill/>
        </p:spPr>
        <p:txBody>
          <a:bodyPr wrap="square">
            <a:spAutoFit/>
          </a:bodyPr>
          <a:lstStyle/>
          <a:p>
            <a:pPr>
              <a:defRPr sz="1300" b="1">
                <a:solidFill>
                  <a:srgbClr val="1A365D"/>
                </a:solidFill>
                <a:latin typeface="Arial"/>
              </a:defRPr>
            </a:pPr>
            <a:r>
              <a:t>5. Security &amp; Input Sanitization</a:t>
            </a:r>
          </a:p>
          <a:p>
            <a:pPr>
              <a:spcBef>
                <a:spcPts val="300"/>
              </a:spcBef>
              <a:defRPr sz="1100">
                <a:solidFill>
                  <a:srgbClr val="2D3748"/>
                </a:solidFill>
                <a:latin typeface="Arial"/>
              </a:defRPr>
            </a:pPr>
            <a:r>
              <a:t>Strict role-based authorization decorators (@login_required, @admin_required) prevent privilege escalation. Form inputs and parameters use SQL query parameter binding to eliminate SQL injection vulnerabilities.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QUALITY ASSURANCE</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Testing Methodology &amp; Verification Results</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9 of 10</a:t>
            </a:r>
          </a:p>
        </p:txBody>
      </p:sp>
      <p:sp>
        <p:nvSpPr>
          <p:cNvPr id="8" name="Rectangle 7"/>
          <p:cNvSpPr/>
          <p:nvPr/>
        </p:nvSpPr>
        <p:spPr>
          <a:xfrm>
            <a:off x="731520" y="1554480"/>
            <a:ext cx="10728655" cy="914400"/>
          </a:xfrm>
          <a:prstGeom prst="rect">
            <a:avLst/>
          </a:prstGeom>
          <a:solidFill>
            <a:srgbClr val="F0FDF4"/>
          </a:solidFill>
          <a:ln>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45920"/>
            <a:ext cx="10332720" cy="731520"/>
          </a:xfrm>
          <a:prstGeom prst="rect">
            <a:avLst/>
          </a:prstGeom>
          <a:noFill/>
        </p:spPr>
        <p:txBody>
          <a:bodyPr wrap="none">
            <a:spAutoFit/>
          </a:bodyPr>
          <a:lstStyle/>
          <a:p>
            <a:pPr>
              <a:defRPr sz="1600" b="1">
                <a:solidFill>
                  <a:srgbClr val="28A745"/>
                </a:solidFill>
                <a:latin typeface="Arial"/>
              </a:defRPr>
            </a:pPr>
            <a:r>
              <a:t>Automated Unit Test Results: 17 Passed / 0 Failed (100% Pass Rate)</a:t>
            </a:r>
          </a:p>
          <a:p>
            <a:pPr>
              <a:spcBef>
                <a:spcPts val="300"/>
              </a:spcBef>
              <a:defRPr sz="1150">
                <a:solidFill>
                  <a:srgbClr val="2D3748"/>
                </a:solidFill>
                <a:latin typeface="Arial"/>
              </a:defRPr>
            </a:pPr>
            <a:r>
              <a:t>Executed using Python's standard unittest test runner against isolated test databases. Execution time: 4.44 seconds.</a:t>
            </a:r>
          </a:p>
        </p:txBody>
      </p:sp>
      <p:sp>
        <p:nvSpPr>
          <p:cNvPr id="10" name="Rectangle 9"/>
          <p:cNvSpPr/>
          <p:nvPr/>
        </p:nvSpPr>
        <p:spPr>
          <a:xfrm>
            <a:off x="731520" y="2651760"/>
            <a:ext cx="3474720" cy="3291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2651760"/>
            <a:ext cx="347472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2697480"/>
            <a:ext cx="3474720" cy="365760"/>
          </a:xfrm>
          <a:prstGeom prst="rect">
            <a:avLst/>
          </a:prstGeom>
          <a:noFill/>
        </p:spPr>
        <p:txBody>
          <a:bodyPr wrap="none">
            <a:spAutoFit/>
          </a:bodyPr>
          <a:lstStyle/>
          <a:p>
            <a:pPr algn="ctr">
              <a:defRPr sz="1200" b="1">
                <a:solidFill>
                  <a:srgbClr val="FFFFFF"/>
                </a:solidFill>
                <a:latin typeface="Arial"/>
              </a:defRPr>
            </a:pPr>
            <a:r>
              <a:t>Calculation Unit Tests</a:t>
            </a:r>
          </a:p>
        </p:txBody>
      </p:sp>
      <p:sp>
        <p:nvSpPr>
          <p:cNvPr id="13" name="TextBox 12"/>
          <p:cNvSpPr txBox="1"/>
          <p:nvPr/>
        </p:nvSpPr>
        <p:spPr>
          <a:xfrm>
            <a:off x="868680" y="3200400"/>
            <a:ext cx="3200400" cy="2651760"/>
          </a:xfrm>
          <a:prstGeom prst="rect">
            <a:avLst/>
          </a:prstGeom>
          <a:noFill/>
        </p:spPr>
        <p:txBody>
          <a:bodyPr wrap="square">
            <a:spAutoFit/>
          </a:bodyPr>
          <a:lstStyle/>
          <a:p>
            <a:pPr>
              <a:spcBef>
                <a:spcPts val="0"/>
              </a:spcBef>
              <a:defRPr sz="980">
                <a:solidFill>
                  <a:srgbClr val="2D3748"/>
                </a:solidFill>
                <a:latin typeface="Arial"/>
              </a:defRPr>
            </a:pPr>
            <a:r>
              <a:t>• Regular Day Counting: Mon-Wed correctly computes 3.0 days.</a:t>
            </a:r>
          </a:p>
          <a:p>
            <a:pPr>
              <a:spcBef>
                <a:spcPts val="400"/>
              </a:spcBef>
              <a:defRPr sz="980">
                <a:solidFill>
                  <a:srgbClr val="2D3748"/>
                </a:solidFill>
                <a:latin typeface="Arial"/>
              </a:defRPr>
            </a:pPr>
            <a:r>
              <a:t>• Weekend Exclusion: Fri-Mon correctly computes 2.0 days.</a:t>
            </a:r>
          </a:p>
          <a:p>
            <a:pPr>
              <a:spcBef>
                <a:spcPts val="400"/>
              </a:spcBef>
              <a:defRPr sz="980">
                <a:solidFill>
                  <a:srgbClr val="2D3748"/>
                </a:solidFill>
                <a:latin typeface="Arial"/>
              </a:defRPr>
            </a:pPr>
            <a:r>
              <a:t>• Holiday Exclusion: Public holidays excluded from total count.</a:t>
            </a:r>
          </a:p>
          <a:p>
            <a:pPr>
              <a:spcBef>
                <a:spcPts val="400"/>
              </a:spcBef>
              <a:defRPr sz="980">
                <a:solidFill>
                  <a:srgbClr val="2D3748"/>
                </a:solidFill>
                <a:latin typeface="Arial"/>
              </a:defRPr>
            </a:pPr>
            <a:r>
              <a:t>• Half-Day Calculation: Single date half-day verified as 0.5 days.</a:t>
            </a:r>
          </a:p>
          <a:p>
            <a:pPr>
              <a:spcBef>
                <a:spcPts val="400"/>
              </a:spcBef>
              <a:defRPr sz="980">
                <a:solidFill>
                  <a:srgbClr val="2D3748"/>
                </a:solidFill>
                <a:latin typeface="Arial"/>
              </a:defRPr>
            </a:pPr>
            <a:r>
              <a:t>• Date Sequence Guard: End date earlier than start date rejected.</a:t>
            </a:r>
          </a:p>
        </p:txBody>
      </p:sp>
      <p:sp>
        <p:nvSpPr>
          <p:cNvPr id="14" name="Rectangle 13"/>
          <p:cNvSpPr/>
          <p:nvPr/>
        </p:nvSpPr>
        <p:spPr>
          <a:xfrm>
            <a:off x="4389120" y="2651760"/>
            <a:ext cx="3474720" cy="3291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0" y="2651760"/>
            <a:ext cx="347472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0" y="2697480"/>
            <a:ext cx="3474720" cy="365760"/>
          </a:xfrm>
          <a:prstGeom prst="rect">
            <a:avLst/>
          </a:prstGeom>
          <a:noFill/>
        </p:spPr>
        <p:txBody>
          <a:bodyPr wrap="none">
            <a:spAutoFit/>
          </a:bodyPr>
          <a:lstStyle/>
          <a:p>
            <a:pPr algn="ctr">
              <a:defRPr sz="1200" b="1">
                <a:solidFill>
                  <a:srgbClr val="FFFFFF"/>
                </a:solidFill>
                <a:latin typeface="Arial"/>
              </a:defRPr>
            </a:pPr>
            <a:r>
              <a:t>Workflow Integration Tests</a:t>
            </a:r>
          </a:p>
        </p:txBody>
      </p:sp>
      <p:sp>
        <p:nvSpPr>
          <p:cNvPr id="17" name="TextBox 16"/>
          <p:cNvSpPr txBox="1"/>
          <p:nvPr/>
        </p:nvSpPr>
        <p:spPr>
          <a:xfrm>
            <a:off x="4526280" y="3200400"/>
            <a:ext cx="3200400" cy="2651760"/>
          </a:xfrm>
          <a:prstGeom prst="rect">
            <a:avLst/>
          </a:prstGeom>
          <a:noFill/>
        </p:spPr>
        <p:txBody>
          <a:bodyPr wrap="square">
            <a:spAutoFit/>
          </a:bodyPr>
          <a:lstStyle/>
          <a:p>
            <a:pPr>
              <a:spcBef>
                <a:spcPts val="0"/>
              </a:spcBef>
              <a:defRPr sz="980">
                <a:solidFill>
                  <a:srgbClr val="2D3748"/>
                </a:solidFill>
                <a:latin typeface="Arial"/>
              </a:defRPr>
            </a:pPr>
            <a:r>
              <a:t>• Apply &amp; Pending Hold: Application places instant hold on quota.</a:t>
            </a:r>
          </a:p>
          <a:p>
            <a:pPr>
              <a:spcBef>
                <a:spcPts val="400"/>
              </a:spcBef>
              <a:defRPr sz="980">
                <a:solidFill>
                  <a:srgbClr val="2D3748"/>
                </a:solidFill>
                <a:latin typeface="Arial"/>
              </a:defRPr>
            </a:pPr>
            <a:r>
              <a:t>• Manager Approval: Transfers pending hold to used days accurately.</a:t>
            </a:r>
          </a:p>
          <a:p>
            <a:pPr>
              <a:spcBef>
                <a:spcPts val="400"/>
              </a:spcBef>
              <a:defRPr sz="980">
                <a:solidFill>
                  <a:srgbClr val="2D3748"/>
                </a:solidFill>
                <a:latin typeface="Arial"/>
              </a:defRPr>
            </a:pPr>
            <a:r>
              <a:t>• Manager Rejection: Releases pending hold with zero quota deduction.</a:t>
            </a:r>
          </a:p>
          <a:p>
            <a:pPr>
              <a:spcBef>
                <a:spcPts val="400"/>
              </a:spcBef>
              <a:defRPr sz="980">
                <a:solidFill>
                  <a:srgbClr val="2D3748"/>
                </a:solidFill>
                <a:latin typeface="Arial"/>
              </a:defRPr>
            </a:pPr>
            <a:r>
              <a:t>• Self-Service Cancel: Cancelled pending leaves restore balance.</a:t>
            </a:r>
          </a:p>
          <a:p>
            <a:pPr>
              <a:spcBef>
                <a:spcPts val="400"/>
              </a:spcBef>
              <a:defRPr sz="980">
                <a:solidFill>
                  <a:srgbClr val="2D3748"/>
                </a:solidFill>
                <a:latin typeface="Arial"/>
              </a:defRPr>
            </a:pPr>
            <a:r>
              <a:t>• Insufficient Balance: Rejects request when quota is exceeded.</a:t>
            </a:r>
          </a:p>
        </p:txBody>
      </p:sp>
      <p:sp>
        <p:nvSpPr>
          <p:cNvPr id="18" name="Rectangle 17"/>
          <p:cNvSpPr/>
          <p:nvPr/>
        </p:nvSpPr>
        <p:spPr>
          <a:xfrm>
            <a:off x="8046720" y="2651760"/>
            <a:ext cx="3474720" cy="329184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2651760"/>
            <a:ext cx="3474720" cy="457200"/>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0" y="2697480"/>
            <a:ext cx="3474720" cy="365760"/>
          </a:xfrm>
          <a:prstGeom prst="rect">
            <a:avLst/>
          </a:prstGeom>
          <a:noFill/>
        </p:spPr>
        <p:txBody>
          <a:bodyPr wrap="none">
            <a:spAutoFit/>
          </a:bodyPr>
          <a:lstStyle/>
          <a:p>
            <a:pPr algn="ctr">
              <a:defRPr sz="1200" b="1">
                <a:solidFill>
                  <a:srgbClr val="FFFFFF"/>
                </a:solidFill>
                <a:latin typeface="Arial"/>
              </a:defRPr>
            </a:pPr>
            <a:r>
              <a:t>Security &amp; Validation Tests</a:t>
            </a:r>
          </a:p>
        </p:txBody>
      </p:sp>
      <p:sp>
        <p:nvSpPr>
          <p:cNvPr id="21" name="TextBox 20"/>
          <p:cNvSpPr txBox="1"/>
          <p:nvPr/>
        </p:nvSpPr>
        <p:spPr>
          <a:xfrm>
            <a:off x="8183880" y="3200400"/>
            <a:ext cx="3200400" cy="2651760"/>
          </a:xfrm>
          <a:prstGeom prst="rect">
            <a:avLst/>
          </a:prstGeom>
          <a:noFill/>
        </p:spPr>
        <p:txBody>
          <a:bodyPr wrap="square">
            <a:spAutoFit/>
          </a:bodyPr>
          <a:lstStyle/>
          <a:p>
            <a:pPr>
              <a:spcBef>
                <a:spcPts val="0"/>
              </a:spcBef>
              <a:defRPr sz="980">
                <a:solidFill>
                  <a:srgbClr val="2D3748"/>
                </a:solidFill>
                <a:latin typeface="Arial"/>
              </a:defRPr>
            </a:pPr>
            <a:r>
              <a:t>• Authentication Check: Valid login session creation verified.</a:t>
            </a:r>
          </a:p>
          <a:p>
            <a:pPr>
              <a:spcBef>
                <a:spcPts val="400"/>
              </a:spcBef>
              <a:defRPr sz="980">
                <a:solidFill>
                  <a:srgbClr val="2D3748"/>
                </a:solidFill>
                <a:latin typeface="Arial"/>
              </a:defRPr>
            </a:pPr>
            <a:r>
              <a:t>• Role Separation: Prevents standard users accessing admin portal.</a:t>
            </a:r>
          </a:p>
          <a:p>
            <a:pPr>
              <a:spcBef>
                <a:spcPts val="400"/>
              </a:spcBef>
              <a:defRPr sz="980">
                <a:solidFill>
                  <a:srgbClr val="2D3748"/>
                </a:solidFill>
                <a:latin typeface="Arial"/>
              </a:defRPr>
            </a:pPr>
            <a:r>
              <a:t>• Overlap Prevention: Blocks concurrent overlapping leave dates.</a:t>
            </a:r>
          </a:p>
          <a:p>
            <a:pPr>
              <a:spcBef>
                <a:spcPts val="400"/>
              </a:spcBef>
              <a:defRPr sz="980">
                <a:solidFill>
                  <a:srgbClr val="2D3748"/>
                </a:solidFill>
                <a:latin typeface="Arial"/>
              </a:defRPr>
            </a:pPr>
            <a:r>
              <a:t>• Duplicate Email Check: Prevents multiple accounts with same email.</a:t>
            </a:r>
          </a:p>
          <a:p>
            <a:pPr>
              <a:spcBef>
                <a:spcPts val="400"/>
              </a:spcBef>
              <a:defRPr sz="980">
                <a:solidFill>
                  <a:srgbClr val="2D3748"/>
                </a:solidFill>
                <a:latin typeface="Arial"/>
              </a:defRPr>
            </a:pPr>
            <a:r>
              <a:t>• Quota Threshold Guard: Rejects negative quota allocation values.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411480"/>
            <a:ext cx="10698480" cy="274320"/>
          </a:xfrm>
          <a:prstGeom prst="rect">
            <a:avLst/>
          </a:prstGeom>
          <a:noFill/>
        </p:spPr>
        <p:txBody>
          <a:bodyPr wrap="none" lIns="0" tIns="0" rIns="0" bIns="0">
            <a:spAutoFit/>
          </a:bodyPr>
          <a:lstStyle/>
          <a:p>
            <a:pPr>
              <a:defRPr sz="1000" b="1">
                <a:solidFill>
                  <a:srgbClr val="2B6CB0"/>
                </a:solidFill>
                <a:latin typeface="Arial"/>
              </a:defRPr>
            </a:pPr>
            <a:r>
              <a:t>PROJECT SUMMARY</a:t>
            </a:r>
          </a:p>
        </p:txBody>
      </p:sp>
      <p:sp>
        <p:nvSpPr>
          <p:cNvPr id="3" name="TextBox 2"/>
          <p:cNvSpPr txBox="1"/>
          <p:nvPr/>
        </p:nvSpPr>
        <p:spPr>
          <a:xfrm>
            <a:off x="731520" y="685800"/>
            <a:ext cx="10698480" cy="548640"/>
          </a:xfrm>
          <a:prstGeom prst="rect">
            <a:avLst/>
          </a:prstGeom>
          <a:noFill/>
        </p:spPr>
        <p:txBody>
          <a:bodyPr wrap="none" lIns="0" tIns="0" rIns="0" bIns="0">
            <a:spAutoFit/>
          </a:bodyPr>
          <a:lstStyle/>
          <a:p>
            <a:pPr>
              <a:defRPr sz="2200" b="1">
                <a:solidFill>
                  <a:srgbClr val="1A365D"/>
                </a:solidFill>
                <a:latin typeface="Arial"/>
              </a:defRPr>
            </a:pPr>
            <a:r>
              <a:t>Conclusion &amp; Future Enhancements</a:t>
            </a:r>
          </a:p>
        </p:txBody>
      </p:sp>
      <p:sp>
        <p:nvSpPr>
          <p:cNvPr id="4" name="Rectangle 3"/>
          <p:cNvSpPr/>
          <p:nvPr/>
        </p:nvSpPr>
        <p:spPr>
          <a:xfrm>
            <a:off x="731520" y="1325880"/>
            <a:ext cx="10728655" cy="18288"/>
          </a:xfrm>
          <a:prstGeom prst="rect">
            <a:avLst/>
          </a:prstGeom>
          <a:solidFill>
            <a:srgbClr val="2B6C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6217920"/>
            <a:ext cx="10728655"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6263640"/>
            <a:ext cx="7315200" cy="365760"/>
          </a:xfrm>
          <a:prstGeom prst="rect">
            <a:avLst/>
          </a:prstGeom>
          <a:noFill/>
        </p:spPr>
        <p:txBody>
          <a:bodyPr wrap="none" lIns="0" tIns="0" rIns="0" bIns="0">
            <a:spAutoFit/>
          </a:bodyPr>
          <a:lstStyle/>
          <a:p>
            <a:pPr>
              <a:defRPr sz="950">
                <a:solidFill>
                  <a:srgbClr val="718096"/>
                </a:solidFill>
                <a:latin typeface="Arial"/>
              </a:defRPr>
            </a:pPr>
            <a:r>
              <a:t>Employee Leave Management System | Project Presentation</a:t>
            </a:r>
          </a:p>
        </p:txBody>
      </p:sp>
      <p:sp>
        <p:nvSpPr>
          <p:cNvPr id="7" name="TextBox 6"/>
          <p:cNvSpPr txBox="1"/>
          <p:nvPr/>
        </p:nvSpPr>
        <p:spPr>
          <a:xfrm>
            <a:off x="9601200" y="6263640"/>
            <a:ext cx="1828800" cy="365760"/>
          </a:xfrm>
          <a:prstGeom prst="rect">
            <a:avLst/>
          </a:prstGeom>
          <a:noFill/>
        </p:spPr>
        <p:txBody>
          <a:bodyPr wrap="none" lIns="0" tIns="0" rIns="0" bIns="0">
            <a:spAutoFit/>
          </a:bodyPr>
          <a:lstStyle/>
          <a:p>
            <a:pPr algn="r">
              <a:defRPr sz="950">
                <a:solidFill>
                  <a:srgbClr val="718096"/>
                </a:solidFill>
                <a:latin typeface="Arial"/>
              </a:defRPr>
            </a:pPr>
            <a:r>
              <a:t>Slide 10 of 10</a:t>
            </a:r>
          </a:p>
        </p:txBody>
      </p:sp>
      <p:sp>
        <p:nvSpPr>
          <p:cNvPr id="8" name="Rectangle 7"/>
          <p:cNvSpPr/>
          <p:nvPr/>
        </p:nvSpPr>
        <p:spPr>
          <a:xfrm>
            <a:off x="731520" y="1554480"/>
            <a:ext cx="512064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91640"/>
            <a:ext cx="4754880" cy="4114800"/>
          </a:xfrm>
          <a:prstGeom prst="rect">
            <a:avLst/>
          </a:prstGeom>
          <a:noFill/>
        </p:spPr>
        <p:txBody>
          <a:bodyPr wrap="square">
            <a:spAutoFit/>
          </a:bodyPr>
          <a:lstStyle/>
          <a:p>
            <a:pPr>
              <a:defRPr sz="1500" b="1">
                <a:solidFill>
                  <a:srgbClr val="1A365D"/>
                </a:solidFill>
                <a:latin typeface="Arial"/>
              </a:defRPr>
            </a:pPr>
            <a:r>
              <a:t>Conclusion &amp; Summary</a:t>
            </a:r>
          </a:p>
          <a:p>
            <a:pPr>
              <a:spcBef>
                <a:spcPts val="1000"/>
              </a:spcBef>
              <a:defRPr sz="1150">
                <a:solidFill>
                  <a:srgbClr val="2D3748"/>
                </a:solidFill>
                <a:latin typeface="Arial"/>
              </a:defRPr>
            </a:pPr>
            <a:r>
              <a:t>•  Automated Administrative Process: The system successfully replaces paper-based and email-based leave tracking with an automated, responsive web application.</a:t>
            </a:r>
          </a:p>
          <a:p>
            <a:pPr>
              <a:spcBef>
                <a:spcPts val="1000"/>
              </a:spcBef>
              <a:defRPr sz="1150">
                <a:solidFill>
                  <a:srgbClr val="2D3748"/>
                </a:solidFill>
                <a:latin typeface="Arial"/>
              </a:defRPr>
            </a:pPr>
            <a:r>
              <a:t>•  Elimination of Calculation Errors: Smart business-days engine accurately excludes non-working days, preventing human counting errors.</a:t>
            </a:r>
          </a:p>
          <a:p>
            <a:pPr>
              <a:spcBef>
                <a:spcPts val="1000"/>
              </a:spcBef>
              <a:defRPr sz="1150">
                <a:solidFill>
                  <a:srgbClr val="2D3748"/>
                </a:solidFill>
                <a:latin typeface="Arial"/>
              </a:defRPr>
            </a:pPr>
            <a:r>
              <a:t>•  Improved Transparency: Both employees and managers have real-time visibility over balances, request statuses, and historical records.</a:t>
            </a:r>
          </a:p>
          <a:p>
            <a:pPr>
              <a:spcBef>
                <a:spcPts val="1000"/>
              </a:spcBef>
              <a:defRPr sz="1150">
                <a:solidFill>
                  <a:srgbClr val="2D3748"/>
                </a:solidFill>
                <a:latin typeface="Arial"/>
              </a:defRPr>
            </a:pPr>
            <a:r>
              <a:t>•  Production Cloud Readiness: Configured with Gunicorn WSGI and deployed to cloud hosting with continuous GitHub deployment.</a:t>
            </a:r>
          </a:p>
        </p:txBody>
      </p:sp>
      <p:sp>
        <p:nvSpPr>
          <p:cNvPr id="10" name="Rectangle 9"/>
          <p:cNvSpPr/>
          <p:nvPr/>
        </p:nvSpPr>
        <p:spPr>
          <a:xfrm>
            <a:off x="6217920" y="1554480"/>
            <a:ext cx="5212080" cy="4389120"/>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691640"/>
            <a:ext cx="4846320" cy="4114800"/>
          </a:xfrm>
          <a:prstGeom prst="rect">
            <a:avLst/>
          </a:prstGeom>
          <a:noFill/>
        </p:spPr>
        <p:txBody>
          <a:bodyPr wrap="square">
            <a:spAutoFit/>
          </a:bodyPr>
          <a:lstStyle/>
          <a:p>
            <a:pPr>
              <a:defRPr sz="1500" b="1">
                <a:solidFill>
                  <a:srgbClr val="2B6CB0"/>
                </a:solidFill>
                <a:latin typeface="Arial"/>
              </a:defRPr>
            </a:pPr>
            <a:r>
              <a:t>Future Scope &amp; Enhancements</a:t>
            </a:r>
          </a:p>
          <a:p>
            <a:pPr>
              <a:spcBef>
                <a:spcPts val="1000"/>
              </a:spcBef>
              <a:defRPr sz="1150">
                <a:solidFill>
                  <a:srgbClr val="2D3748"/>
                </a:solidFill>
                <a:latin typeface="Arial"/>
              </a:defRPr>
            </a:pPr>
            <a:r>
              <a:t>•  Email and SMS Notifications: Automated email alerts sent to managers upon new requests and to employees upon status updates.</a:t>
            </a:r>
          </a:p>
          <a:p>
            <a:pPr>
              <a:spcBef>
                <a:spcPts val="1000"/>
              </a:spcBef>
              <a:defRPr sz="1150">
                <a:solidFill>
                  <a:srgbClr val="2D3748"/>
                </a:solidFill>
                <a:latin typeface="Arial"/>
              </a:defRPr>
            </a:pPr>
            <a:r>
              <a:t>•  Calendar Synchronization: Integration with Google Calendar and Microsoft Outlook for synchronized team availability.</a:t>
            </a:r>
          </a:p>
          <a:p>
            <a:pPr>
              <a:spcBef>
                <a:spcPts val="1000"/>
              </a:spcBef>
              <a:defRPr sz="1150">
                <a:solidFill>
                  <a:srgbClr val="2D3748"/>
                </a:solidFill>
                <a:latin typeface="Arial"/>
              </a:defRPr>
            </a:pPr>
            <a:r>
              <a:t>•  Biometric Attendance Integration: Connecting leave records with physical office punch clocks or biometric attendance systems.</a:t>
            </a:r>
          </a:p>
          <a:p>
            <a:pPr>
              <a:spcBef>
                <a:spcPts val="1000"/>
              </a:spcBef>
              <a:defRPr sz="1150">
                <a:solidFill>
                  <a:srgbClr val="2D3748"/>
                </a:solidFill>
                <a:latin typeface="Arial"/>
              </a:defRPr>
            </a:pPr>
            <a:r>
              <a:t>•  Mobile Application: Developing dedicated Android and iOS companion apps using Flutter or React Native.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